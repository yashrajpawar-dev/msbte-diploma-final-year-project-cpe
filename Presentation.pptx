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8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84E35D-7D38-18DC-649F-FA1DBCFF5DFE}"/>
              </a:ext>
            </a:extLst>
          </p:cNvPr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Donut 3">
            <a:extLst>
              <a:ext uri="{FF2B5EF4-FFF2-40B4-BE49-F238E27FC236}">
                <a16:creationId xmlns:a16="http://schemas.microsoft.com/office/drawing/2014/main" id="{58D5FEF9-9508-91EE-6E60-F2F6D914FFA6}"/>
              </a:ext>
            </a:extLst>
          </p:cNvPr>
          <p:cNvSpPr/>
          <p:nvPr/>
        </p:nvSpPr>
        <p:spPr>
          <a:xfrm>
            <a:off x="4343400" y="112579"/>
            <a:ext cx="3657600" cy="3657600"/>
          </a:xfrm>
          <a:prstGeom prst="donut">
            <a:avLst/>
          </a:prstGeom>
          <a:noFill/>
          <a:ln w="19050">
            <a:solidFill>
              <a:srgbClr val="14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63EAB6-1612-C3F5-E18C-6DD42790AE2F}"/>
              </a:ext>
            </a:extLst>
          </p:cNvPr>
          <p:cNvSpPr txBox="1"/>
          <p:nvPr/>
        </p:nvSpPr>
        <p:spPr>
          <a:xfrm>
            <a:off x="76353" y="1392739"/>
            <a:ext cx="121916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Inter"/>
              </a:defRPr>
            </a:pPr>
            <a:r>
              <a:t>PEERLINK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DB0C11-BA22-A868-28C7-5DF28121B5AE}"/>
              </a:ext>
            </a:extLst>
          </p:cNvPr>
          <p:cNvSpPr txBox="1"/>
          <p:nvPr/>
        </p:nvSpPr>
        <p:spPr>
          <a:xfrm>
            <a:off x="76353" y="2307139"/>
            <a:ext cx="121916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Inter"/>
              </a:defRPr>
            </a:pPr>
            <a:r>
              <a:t>OFFLINE MESH COMMUNICATION SYSTEM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BDE2AE-E316-E232-8FCC-563043F2A856}"/>
              </a:ext>
            </a:extLst>
          </p:cNvPr>
          <p:cNvSpPr txBox="1"/>
          <p:nvPr/>
        </p:nvSpPr>
        <p:spPr>
          <a:xfrm>
            <a:off x="914400" y="4389120"/>
            <a:ext cx="103628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C3AED"/>
                </a:solidFill>
                <a:latin typeface="Inter"/>
              </a:defRPr>
            </a:pPr>
            <a:r>
              <a:rPr lang="en-US" sz="1400" dirty="0"/>
              <a:t>TEAM MEMBERS</a:t>
            </a:r>
            <a:endParaRPr sz="1400" dirty="0"/>
          </a:p>
        </p:txBody>
      </p:sp>
      <p:sp>
        <p:nvSpPr>
          <p:cNvPr id="39" name="Rounded Rectangle 8">
            <a:extLst>
              <a:ext uri="{FF2B5EF4-FFF2-40B4-BE49-F238E27FC236}">
                <a16:creationId xmlns:a16="http://schemas.microsoft.com/office/drawing/2014/main" id="{9A9CE54C-E482-7ADD-467F-DC46F33B1E10}"/>
              </a:ext>
            </a:extLst>
          </p:cNvPr>
          <p:cNvSpPr/>
          <p:nvPr/>
        </p:nvSpPr>
        <p:spPr>
          <a:xfrm>
            <a:off x="1097280" y="4754880"/>
            <a:ext cx="2286000" cy="7315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3AABB21-9ADE-7CDE-38C9-377DEA4483AC}"/>
              </a:ext>
            </a:extLst>
          </p:cNvPr>
          <p:cNvSpPr/>
          <p:nvPr/>
        </p:nvSpPr>
        <p:spPr>
          <a:xfrm>
            <a:off x="1188720" y="507492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EB0694-41AB-B6B2-BA6D-7D1527ED0C46}"/>
              </a:ext>
            </a:extLst>
          </p:cNvPr>
          <p:cNvSpPr txBox="1"/>
          <p:nvPr/>
        </p:nvSpPr>
        <p:spPr>
          <a:xfrm>
            <a:off x="1363827" y="496315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rPr lang="en-US" dirty="0"/>
              <a:t>Satyajeet Chavan</a:t>
            </a:r>
            <a:endParaRPr dirty="0"/>
          </a:p>
        </p:txBody>
      </p:sp>
      <p:sp>
        <p:nvSpPr>
          <p:cNvPr id="43" name="Rounded Rectangle 12">
            <a:extLst>
              <a:ext uri="{FF2B5EF4-FFF2-40B4-BE49-F238E27FC236}">
                <a16:creationId xmlns:a16="http://schemas.microsoft.com/office/drawing/2014/main" id="{37C1176D-A8E1-A5E7-4296-D34A45DA1925}"/>
              </a:ext>
            </a:extLst>
          </p:cNvPr>
          <p:cNvSpPr/>
          <p:nvPr/>
        </p:nvSpPr>
        <p:spPr>
          <a:xfrm>
            <a:off x="3657600" y="4754880"/>
            <a:ext cx="2286000" cy="7315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2273668-78A2-5B3D-D963-D571B0D193DD}"/>
              </a:ext>
            </a:extLst>
          </p:cNvPr>
          <p:cNvSpPr/>
          <p:nvPr/>
        </p:nvSpPr>
        <p:spPr>
          <a:xfrm>
            <a:off x="3749040" y="507492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90DCEA-EAC6-CB1D-252B-384D3176C652}"/>
              </a:ext>
            </a:extLst>
          </p:cNvPr>
          <p:cNvSpPr txBox="1"/>
          <p:nvPr/>
        </p:nvSpPr>
        <p:spPr>
          <a:xfrm>
            <a:off x="3909061" y="499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rPr lang="en-US" dirty="0"/>
              <a:t>Yashraj Pawar</a:t>
            </a:r>
            <a:endParaRPr dirty="0"/>
          </a:p>
        </p:txBody>
      </p:sp>
      <p:sp>
        <p:nvSpPr>
          <p:cNvPr id="47" name="Rounded Rectangle 16">
            <a:extLst>
              <a:ext uri="{FF2B5EF4-FFF2-40B4-BE49-F238E27FC236}">
                <a16:creationId xmlns:a16="http://schemas.microsoft.com/office/drawing/2014/main" id="{7BBFB922-29AA-80D6-A5F4-5C24A8283749}"/>
              </a:ext>
            </a:extLst>
          </p:cNvPr>
          <p:cNvSpPr/>
          <p:nvPr/>
        </p:nvSpPr>
        <p:spPr>
          <a:xfrm>
            <a:off x="6217920" y="4754880"/>
            <a:ext cx="2286000" cy="7315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F58FE6B-B971-0050-24D1-0C0D6A6D1919}"/>
              </a:ext>
            </a:extLst>
          </p:cNvPr>
          <p:cNvSpPr/>
          <p:nvPr/>
        </p:nvSpPr>
        <p:spPr>
          <a:xfrm>
            <a:off x="6309360" y="507492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382AFD-E444-F4E7-7837-9C0C9DF17A75}"/>
              </a:ext>
            </a:extLst>
          </p:cNvPr>
          <p:cNvSpPr txBox="1"/>
          <p:nvPr/>
        </p:nvSpPr>
        <p:spPr>
          <a:xfrm>
            <a:off x="6462066" y="499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rPr lang="en-US" dirty="0"/>
              <a:t>Ketan </a:t>
            </a:r>
            <a:r>
              <a:rPr lang="en-US" dirty="0" err="1"/>
              <a:t>Gunjal</a:t>
            </a:r>
            <a:endParaRPr dirty="0"/>
          </a:p>
        </p:txBody>
      </p:sp>
      <p:sp>
        <p:nvSpPr>
          <p:cNvPr id="51" name="Rounded Rectangle 20">
            <a:extLst>
              <a:ext uri="{FF2B5EF4-FFF2-40B4-BE49-F238E27FC236}">
                <a16:creationId xmlns:a16="http://schemas.microsoft.com/office/drawing/2014/main" id="{A8051631-F98C-7DEB-0C16-E030E705EFBB}"/>
              </a:ext>
            </a:extLst>
          </p:cNvPr>
          <p:cNvSpPr/>
          <p:nvPr/>
        </p:nvSpPr>
        <p:spPr>
          <a:xfrm>
            <a:off x="8778240" y="4754880"/>
            <a:ext cx="2286000" cy="731520"/>
          </a:xfrm>
          <a:prstGeom prst="roundRect">
            <a:avLst/>
          </a:prstGeom>
          <a:solidFill>
            <a:srgbClr val="0A0F1E"/>
          </a:solidFill>
          <a:ln w="127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AE2632C-B611-EF00-F5C4-CE25DF17BC81}"/>
              </a:ext>
            </a:extLst>
          </p:cNvPr>
          <p:cNvSpPr/>
          <p:nvPr/>
        </p:nvSpPr>
        <p:spPr>
          <a:xfrm>
            <a:off x="8869680" y="507492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E220F2C-E250-E582-058F-58E7C3E8FB9D}"/>
              </a:ext>
            </a:extLst>
          </p:cNvPr>
          <p:cNvSpPr txBox="1"/>
          <p:nvPr/>
        </p:nvSpPr>
        <p:spPr>
          <a:xfrm>
            <a:off x="9052560" y="499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nter"/>
              </a:defRPr>
            </a:pPr>
            <a:r>
              <a:rPr lang="en-US" dirty="0"/>
              <a:t>Kalyani Chalke</a:t>
            </a:r>
            <a:endParaRPr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916C7AC-BEF2-0B44-8D1A-C04E0500A957}"/>
              </a:ext>
            </a:extLst>
          </p:cNvPr>
          <p:cNvSpPr txBox="1"/>
          <p:nvPr/>
        </p:nvSpPr>
        <p:spPr>
          <a:xfrm>
            <a:off x="2514600" y="3887921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Arial"/>
              </a:defRPr>
            </a:pPr>
            <a:r>
              <a:rPr dirty="0"/>
              <a:t>An offline, internet-free peer-to-peer messaging system using an ESP32 microcontroller as a portable Wi-Fi relay hub for Android devices.</a:t>
            </a:r>
          </a:p>
        </p:txBody>
      </p:sp>
      <p:sp>
        <p:nvSpPr>
          <p:cNvPr id="71" name="Rounded Rectangle 7">
            <a:extLst>
              <a:ext uri="{FF2B5EF4-FFF2-40B4-BE49-F238E27FC236}">
                <a16:creationId xmlns:a16="http://schemas.microsoft.com/office/drawing/2014/main" id="{80C8CF62-7EE8-A58B-36D4-FFA2780E61EC}"/>
              </a:ext>
            </a:extLst>
          </p:cNvPr>
          <p:cNvSpPr/>
          <p:nvPr/>
        </p:nvSpPr>
        <p:spPr>
          <a:xfrm>
            <a:off x="3124506" y="5811356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9DCC1B1-38F4-E90C-A977-89DCA2C35667}"/>
              </a:ext>
            </a:extLst>
          </p:cNvPr>
          <p:cNvSpPr txBox="1"/>
          <p:nvPr/>
        </p:nvSpPr>
        <p:spPr>
          <a:xfrm>
            <a:off x="3124506" y="58570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 dirty="0"/>
              <a:t>And</a:t>
            </a:r>
            <a:r>
              <a:rPr lang="en-IN" dirty="0"/>
              <a:t>r</a:t>
            </a:r>
            <a:r>
              <a:rPr dirty="0" err="1"/>
              <a:t>oid</a:t>
            </a:r>
            <a:endParaRPr dirty="0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774B059-BB87-AB8C-93C5-04463BB20E73}"/>
              </a:ext>
            </a:extLst>
          </p:cNvPr>
          <p:cNvSpPr/>
          <p:nvPr/>
        </p:nvSpPr>
        <p:spPr>
          <a:xfrm>
            <a:off x="4678986" y="5811356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27481E-6197-BA35-1164-B68619C91238}"/>
              </a:ext>
            </a:extLst>
          </p:cNvPr>
          <p:cNvSpPr txBox="1"/>
          <p:nvPr/>
        </p:nvSpPr>
        <p:spPr>
          <a:xfrm>
            <a:off x="4678986" y="58570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Arial"/>
              </a:defRPr>
            </a:pPr>
            <a:r>
              <a:rPr dirty="0"/>
              <a:t>E</a:t>
            </a:r>
            <a:r>
              <a:rPr lang="en-IN" dirty="0"/>
              <a:t>S</a:t>
            </a:r>
            <a:r>
              <a:rPr dirty="0"/>
              <a:t>P32</a:t>
            </a:r>
          </a:p>
        </p:txBody>
      </p:sp>
      <p:sp>
        <p:nvSpPr>
          <p:cNvPr id="75" name="Rounded Rectangle 11">
            <a:extLst>
              <a:ext uri="{FF2B5EF4-FFF2-40B4-BE49-F238E27FC236}">
                <a16:creationId xmlns:a16="http://schemas.microsoft.com/office/drawing/2014/main" id="{9962FFBA-3C9D-14A0-2940-A88240724FF5}"/>
              </a:ext>
            </a:extLst>
          </p:cNvPr>
          <p:cNvSpPr/>
          <p:nvPr/>
        </p:nvSpPr>
        <p:spPr>
          <a:xfrm>
            <a:off x="6233466" y="5811356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CEB741E-186B-024F-51F6-7C46EBA5266B}"/>
              </a:ext>
            </a:extLst>
          </p:cNvPr>
          <p:cNvSpPr txBox="1"/>
          <p:nvPr/>
        </p:nvSpPr>
        <p:spPr>
          <a:xfrm>
            <a:off x="6233466" y="58570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rPr dirty="0"/>
              <a:t>Jetpack</a:t>
            </a:r>
          </a:p>
        </p:txBody>
      </p:sp>
      <p:sp>
        <p:nvSpPr>
          <p:cNvPr id="77" name="Rounded Rectangle 13">
            <a:extLst>
              <a:ext uri="{FF2B5EF4-FFF2-40B4-BE49-F238E27FC236}">
                <a16:creationId xmlns:a16="http://schemas.microsoft.com/office/drawing/2014/main" id="{5AEE3CD9-9981-3656-622C-0F4210AC5401}"/>
              </a:ext>
            </a:extLst>
          </p:cNvPr>
          <p:cNvSpPr/>
          <p:nvPr/>
        </p:nvSpPr>
        <p:spPr>
          <a:xfrm>
            <a:off x="7787946" y="5811356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C3CB920-3F1E-F08C-3191-F7E1140EEFCE}"/>
              </a:ext>
            </a:extLst>
          </p:cNvPr>
          <p:cNvSpPr txBox="1"/>
          <p:nvPr/>
        </p:nvSpPr>
        <p:spPr>
          <a:xfrm>
            <a:off x="7787946" y="58570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rPr dirty="0"/>
              <a:t>UDP Mesh</a:t>
            </a:r>
          </a:p>
        </p:txBody>
      </p:sp>
      <p:cxnSp>
        <p:nvCxnSpPr>
          <p:cNvPr id="79" name="Connector 26">
            <a:extLst>
              <a:ext uri="{FF2B5EF4-FFF2-40B4-BE49-F238E27FC236}">
                <a16:creationId xmlns:a16="http://schemas.microsoft.com/office/drawing/2014/main" id="{CCE38CC4-3569-0977-A704-73463F2C19EF}"/>
              </a:ext>
            </a:extLst>
          </p:cNvPr>
          <p:cNvCxnSpPr/>
          <p:nvPr/>
        </p:nvCxnSpPr>
        <p:spPr>
          <a:xfrm>
            <a:off x="-28699" y="6660371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084C93A-349C-C389-3C2A-128002D5395A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0E2E82-ED9A-D0AF-F165-54BDA1377D5B}"/>
              </a:ext>
            </a:extLst>
          </p:cNvPr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Inter"/>
              </a:defRPr>
            </a:pPr>
            <a:r>
              <a:rPr dirty="0"/>
              <a:t>PEERLINK</a:t>
            </a:r>
          </a:p>
        </p:txBody>
      </p:sp>
      <p:sp>
        <p:nvSpPr>
          <p:cNvPr id="2" name="Rectangle 1"/>
          <p:cNvSpPr/>
          <p:nvPr/>
        </p:nvSpPr>
        <p:spPr>
          <a:xfrm>
            <a:off x="-9832" y="-9832"/>
            <a:ext cx="12319819" cy="6858000"/>
          </a:xfrm>
          <a:prstGeom prst="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46421" y="388620"/>
            <a:ext cx="1097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Arial"/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37744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Arial"/>
              </a:defRPr>
            </a:pPr>
            <a:r>
              <a:rPr dirty="0"/>
              <a:t>An offline, internet-free peer-to-peer messaging system using an ESP32 microcontroller as a portable Wi-Fi relay hub for Android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3035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rPr dirty="0"/>
              <a:t>And</a:t>
            </a:r>
            <a:r>
              <a:rPr lang="en-IN" dirty="0"/>
              <a:t>r</a:t>
            </a:r>
            <a:r>
              <a:rPr dirty="0" err="1"/>
              <a:t>oid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754880" y="53035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Arial"/>
              </a:defRPr>
            </a:pPr>
            <a:r>
              <a:rPr dirty="0"/>
              <a:t>E</a:t>
            </a:r>
            <a:r>
              <a:rPr lang="en-IN" dirty="0"/>
              <a:t>S</a:t>
            </a:r>
            <a:r>
              <a:rPr dirty="0"/>
              <a:t>P32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53035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rPr dirty="0"/>
              <a:t>Jetpack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53035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rPr dirty="0"/>
              <a:t>UDP Mesh</a:t>
            </a:r>
          </a:p>
        </p:txBody>
      </p:sp>
      <p:cxnSp>
        <p:nvCxnSpPr>
          <p:cNvPr id="17" name="Connector 2">
            <a:extLst>
              <a:ext uri="{FF2B5EF4-FFF2-40B4-BE49-F238E27FC236}">
                <a16:creationId xmlns:a16="http://schemas.microsoft.com/office/drawing/2014/main" id="{995C3705-9A05-62FC-CB97-B563D28694DD}"/>
              </a:ext>
            </a:extLst>
          </p:cNvPr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3">
            <a:extLst>
              <a:ext uri="{FF2B5EF4-FFF2-40B4-BE49-F238E27FC236}">
                <a16:creationId xmlns:a16="http://schemas.microsoft.com/office/drawing/2014/main" id="{1CFEC5F9-4151-B38F-1CCB-53DCCBE986C3}"/>
              </a:ext>
            </a:extLst>
          </p:cNvPr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4">
            <a:extLst>
              <a:ext uri="{FF2B5EF4-FFF2-40B4-BE49-F238E27FC236}">
                <a16:creationId xmlns:a16="http://schemas.microsoft.com/office/drawing/2014/main" id="{B7545F6B-53DE-FBB5-16F5-202768EEEBC9}"/>
              </a:ext>
            </a:extLst>
          </p:cNvPr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5">
            <a:extLst>
              <a:ext uri="{FF2B5EF4-FFF2-40B4-BE49-F238E27FC236}">
                <a16:creationId xmlns:a16="http://schemas.microsoft.com/office/drawing/2014/main" id="{A7F52B92-97BB-AA85-68C3-9921FABFA5D6}"/>
              </a:ext>
            </a:extLst>
          </p:cNvPr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6">
            <a:extLst>
              <a:ext uri="{FF2B5EF4-FFF2-40B4-BE49-F238E27FC236}">
                <a16:creationId xmlns:a16="http://schemas.microsoft.com/office/drawing/2014/main" id="{5F977392-32E5-73D5-47C0-969188BD87C6}"/>
              </a:ext>
            </a:extLst>
          </p:cNvPr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7">
            <a:extLst>
              <a:ext uri="{FF2B5EF4-FFF2-40B4-BE49-F238E27FC236}">
                <a16:creationId xmlns:a16="http://schemas.microsoft.com/office/drawing/2014/main" id="{6E7CBB32-E52A-4DA3-AE1C-CA30119190FF}"/>
              </a:ext>
            </a:extLst>
          </p:cNvPr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8">
            <a:extLst>
              <a:ext uri="{FF2B5EF4-FFF2-40B4-BE49-F238E27FC236}">
                <a16:creationId xmlns:a16="http://schemas.microsoft.com/office/drawing/2014/main" id="{BABA3A1F-A402-CCA6-ED17-6715B0EB98D9}"/>
              </a:ext>
            </a:extLst>
          </p:cNvPr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9">
            <a:extLst>
              <a:ext uri="{FF2B5EF4-FFF2-40B4-BE49-F238E27FC236}">
                <a16:creationId xmlns:a16="http://schemas.microsoft.com/office/drawing/2014/main" id="{07D4083B-E5BC-5631-AD3F-B5104CF22684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0">
            <a:extLst>
              <a:ext uri="{FF2B5EF4-FFF2-40B4-BE49-F238E27FC236}">
                <a16:creationId xmlns:a16="http://schemas.microsoft.com/office/drawing/2014/main" id="{33E64707-0375-1692-B758-A1BCF93AE821}"/>
              </a:ext>
            </a:extLst>
          </p:cNvPr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11">
            <a:extLst>
              <a:ext uri="{FF2B5EF4-FFF2-40B4-BE49-F238E27FC236}">
                <a16:creationId xmlns:a16="http://schemas.microsoft.com/office/drawing/2014/main" id="{DD2F435A-84BD-23EC-574F-07404A93E6FC}"/>
              </a:ext>
            </a:extLst>
          </p:cNvPr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12">
            <a:extLst>
              <a:ext uri="{FF2B5EF4-FFF2-40B4-BE49-F238E27FC236}">
                <a16:creationId xmlns:a16="http://schemas.microsoft.com/office/drawing/2014/main" id="{93AA2EA7-1642-52A6-0CF7-841F0A2EA7D4}"/>
              </a:ext>
            </a:extLst>
          </p:cNvPr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13">
            <a:extLst>
              <a:ext uri="{FF2B5EF4-FFF2-40B4-BE49-F238E27FC236}">
                <a16:creationId xmlns:a16="http://schemas.microsoft.com/office/drawing/2014/main" id="{1501A607-E8D0-BB13-1832-89B85FEDC25C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14">
            <a:extLst>
              <a:ext uri="{FF2B5EF4-FFF2-40B4-BE49-F238E27FC236}">
                <a16:creationId xmlns:a16="http://schemas.microsoft.com/office/drawing/2014/main" id="{91B242FE-5CD7-2A98-16FE-CD4655FFDCC1}"/>
              </a:ext>
            </a:extLst>
          </p:cNvPr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15">
            <a:extLst>
              <a:ext uri="{FF2B5EF4-FFF2-40B4-BE49-F238E27FC236}">
                <a16:creationId xmlns:a16="http://schemas.microsoft.com/office/drawing/2014/main" id="{0A215162-4D8C-4DE2-9A1E-B83DDAE9D919}"/>
              </a:ext>
            </a:extLst>
          </p:cNvPr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6">
            <a:extLst>
              <a:ext uri="{FF2B5EF4-FFF2-40B4-BE49-F238E27FC236}">
                <a16:creationId xmlns:a16="http://schemas.microsoft.com/office/drawing/2014/main" id="{0C63C8A5-E587-0219-8A2E-835CA628032C}"/>
              </a:ext>
            </a:extLst>
          </p:cNvPr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7">
            <a:extLst>
              <a:ext uri="{FF2B5EF4-FFF2-40B4-BE49-F238E27FC236}">
                <a16:creationId xmlns:a16="http://schemas.microsoft.com/office/drawing/2014/main" id="{1A7D5852-F4B3-BB25-2D37-AA083DA29787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8">
            <a:extLst>
              <a:ext uri="{FF2B5EF4-FFF2-40B4-BE49-F238E27FC236}">
                <a16:creationId xmlns:a16="http://schemas.microsoft.com/office/drawing/2014/main" id="{50FE70E7-FE5C-F9C5-6B30-5653AA936E5B}"/>
              </a:ext>
            </a:extLst>
          </p:cNvPr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19">
            <a:extLst>
              <a:ext uri="{FF2B5EF4-FFF2-40B4-BE49-F238E27FC236}">
                <a16:creationId xmlns:a16="http://schemas.microsoft.com/office/drawing/2014/main" id="{98E46045-6DE0-562B-5F72-DFFD073EE35F}"/>
              </a:ext>
            </a:extLst>
          </p:cNvPr>
          <p:cNvCxnSpPr/>
          <p:nvPr/>
        </p:nvCxnSpPr>
        <p:spPr>
          <a:xfrm>
            <a:off x="30632" y="685799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20">
            <a:extLst>
              <a:ext uri="{FF2B5EF4-FFF2-40B4-BE49-F238E27FC236}">
                <a16:creationId xmlns:a16="http://schemas.microsoft.com/office/drawing/2014/main" id="{B9DD4537-4496-21F2-12B4-2678E3B68A28}"/>
              </a:ext>
            </a:extLst>
          </p:cNvPr>
          <p:cNvCxnSpPr/>
          <p:nvPr/>
        </p:nvCxnSpPr>
        <p:spPr>
          <a:xfrm>
            <a:off x="30632" y="1406012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21">
            <a:extLst>
              <a:ext uri="{FF2B5EF4-FFF2-40B4-BE49-F238E27FC236}">
                <a16:creationId xmlns:a16="http://schemas.microsoft.com/office/drawing/2014/main" id="{BBBD42D4-DB5E-CE27-C21B-29E83D093CC9}"/>
              </a:ext>
            </a:extLst>
          </p:cNvPr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22">
            <a:extLst>
              <a:ext uri="{FF2B5EF4-FFF2-40B4-BE49-F238E27FC236}">
                <a16:creationId xmlns:a16="http://schemas.microsoft.com/office/drawing/2014/main" id="{10DE968F-DA3C-C89D-6E3C-5F0293926CA3}"/>
              </a:ext>
            </a:extLst>
          </p:cNvPr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23">
            <a:extLst>
              <a:ext uri="{FF2B5EF4-FFF2-40B4-BE49-F238E27FC236}">
                <a16:creationId xmlns:a16="http://schemas.microsoft.com/office/drawing/2014/main" id="{49A5F34E-7926-DB54-0121-1251A7B8D8DA}"/>
              </a:ext>
            </a:extLst>
          </p:cNvPr>
          <p:cNvCxnSpPr/>
          <p:nvPr/>
        </p:nvCxnSpPr>
        <p:spPr>
          <a:xfrm>
            <a:off x="305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24">
            <a:extLst>
              <a:ext uri="{FF2B5EF4-FFF2-40B4-BE49-F238E27FC236}">
                <a16:creationId xmlns:a16="http://schemas.microsoft.com/office/drawing/2014/main" id="{5E3FBEB1-A78B-E304-9F71-30B0CE605F9A}"/>
              </a:ext>
            </a:extLst>
          </p:cNvPr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25">
            <a:extLst>
              <a:ext uri="{FF2B5EF4-FFF2-40B4-BE49-F238E27FC236}">
                <a16:creationId xmlns:a16="http://schemas.microsoft.com/office/drawing/2014/main" id="{AD8D7E18-48C4-3771-BC97-DA7A75702E6F}"/>
              </a:ext>
            </a:extLst>
          </p:cNvPr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26">
            <a:extLst>
              <a:ext uri="{FF2B5EF4-FFF2-40B4-BE49-F238E27FC236}">
                <a16:creationId xmlns:a16="http://schemas.microsoft.com/office/drawing/2014/main" id="{04ACB52C-FC2B-E2B8-0F22-107C7899A058}"/>
              </a:ext>
            </a:extLst>
          </p:cNvPr>
          <p:cNvCxnSpPr/>
          <p:nvPr/>
        </p:nvCxnSpPr>
        <p:spPr>
          <a:xfrm>
            <a:off x="47195" y="6152535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27">
            <a:extLst>
              <a:ext uri="{FF2B5EF4-FFF2-40B4-BE49-F238E27FC236}">
                <a16:creationId xmlns:a16="http://schemas.microsoft.com/office/drawing/2014/main" id="{B51A6626-ADFF-5C27-45DC-F9606B0D0C77}"/>
              </a:ext>
            </a:extLst>
          </p:cNvPr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28">
            <a:extLst>
              <a:ext uri="{FF2B5EF4-FFF2-40B4-BE49-F238E27FC236}">
                <a16:creationId xmlns:a16="http://schemas.microsoft.com/office/drawing/2014/main" id="{C01B24DA-8560-4754-5D05-365A6BA8A593}"/>
              </a:ext>
            </a:extLst>
          </p:cNvPr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77116203-801B-494B-CEC8-0735ECBF5E6F}"/>
              </a:ext>
            </a:extLst>
          </p:cNvPr>
          <p:cNvSpPr/>
          <p:nvPr/>
        </p:nvSpPr>
        <p:spPr>
          <a:xfrm>
            <a:off x="457200" y="466343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B3ECAFC-B344-04B4-183B-FD0ACA524D66}"/>
              </a:ext>
            </a:extLst>
          </p:cNvPr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455E09C-9D25-9D9A-151B-D9BBBBDB4D50}"/>
              </a:ext>
            </a:extLst>
          </p:cNvPr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2A3FFEA-4324-3DAB-84D2-A73D7F0AB343}"/>
              </a:ext>
            </a:extLst>
          </p:cNvPr>
          <p:cNvSpPr/>
          <p:nvPr/>
        </p:nvSpPr>
        <p:spPr>
          <a:xfrm>
            <a:off x="4282362" y="137160"/>
            <a:ext cx="3657600" cy="3657600"/>
          </a:xfrm>
          <a:prstGeom prst="ellipse">
            <a:avLst/>
          </a:prstGeom>
          <a:noFill/>
          <a:ln w="25400">
            <a:solidFill>
              <a:srgbClr val="14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9B98F7-B9B0-B3DB-FFE4-7DE022EB0B3E}"/>
              </a:ext>
            </a:extLst>
          </p:cNvPr>
          <p:cNvSpPr txBox="1"/>
          <p:nvPr/>
        </p:nvSpPr>
        <p:spPr>
          <a:xfrm>
            <a:off x="15314" y="1278611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Inter"/>
              </a:defRPr>
            </a:pPr>
            <a:r>
              <a:rPr dirty="0"/>
              <a:t>PEERLINK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777A56-0951-7B26-A50F-C66C0ABAB822}"/>
              </a:ext>
            </a:extLst>
          </p:cNvPr>
          <p:cNvSpPr txBox="1"/>
          <p:nvPr/>
        </p:nvSpPr>
        <p:spPr>
          <a:xfrm>
            <a:off x="-306" y="242161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Inter"/>
              </a:defRPr>
            </a:pPr>
            <a:r>
              <a:rPr dirty="0"/>
              <a:t>OFFLINE MESH COMMUNICATION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59909A5-B731-83E8-ED9E-7B4FC2A52DCC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">
            <a:extLst>
              <a:ext uri="{FF2B5EF4-FFF2-40B4-BE49-F238E27FC236}">
                <a16:creationId xmlns:a16="http://schemas.microsoft.com/office/drawing/2014/main" id="{DD1F4C5C-C401-32D7-C780-21542E6442C5}"/>
              </a:ext>
            </a:extLst>
          </p:cNvPr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3">
            <a:extLst>
              <a:ext uri="{FF2B5EF4-FFF2-40B4-BE49-F238E27FC236}">
                <a16:creationId xmlns:a16="http://schemas.microsoft.com/office/drawing/2014/main" id="{64D2E62E-A8E9-665E-358D-EC27009B6B26}"/>
              </a:ext>
            </a:extLst>
          </p:cNvPr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4">
            <a:extLst>
              <a:ext uri="{FF2B5EF4-FFF2-40B4-BE49-F238E27FC236}">
                <a16:creationId xmlns:a16="http://schemas.microsoft.com/office/drawing/2014/main" id="{02C250BC-83D7-A89D-6AC9-148E8CC79C3F}"/>
              </a:ext>
            </a:extLst>
          </p:cNvPr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5">
            <a:extLst>
              <a:ext uri="{FF2B5EF4-FFF2-40B4-BE49-F238E27FC236}">
                <a16:creationId xmlns:a16="http://schemas.microsoft.com/office/drawing/2014/main" id="{85437CAB-483A-2D6B-45B4-D64057B3D51C}"/>
              </a:ext>
            </a:extLst>
          </p:cNvPr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6">
            <a:extLst>
              <a:ext uri="{FF2B5EF4-FFF2-40B4-BE49-F238E27FC236}">
                <a16:creationId xmlns:a16="http://schemas.microsoft.com/office/drawing/2014/main" id="{63A3BE72-331A-BBF0-B862-A020BCCEB37C}"/>
              </a:ext>
            </a:extLst>
          </p:cNvPr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7">
            <a:extLst>
              <a:ext uri="{FF2B5EF4-FFF2-40B4-BE49-F238E27FC236}">
                <a16:creationId xmlns:a16="http://schemas.microsoft.com/office/drawing/2014/main" id="{6C28027A-4AD9-EC7A-412D-1AB1A4ECAFEF}"/>
              </a:ext>
            </a:extLst>
          </p:cNvPr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8">
            <a:extLst>
              <a:ext uri="{FF2B5EF4-FFF2-40B4-BE49-F238E27FC236}">
                <a16:creationId xmlns:a16="http://schemas.microsoft.com/office/drawing/2014/main" id="{F8CE07DB-9741-EAE9-7C42-AEFCDE267242}"/>
              </a:ext>
            </a:extLst>
          </p:cNvPr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9">
            <a:extLst>
              <a:ext uri="{FF2B5EF4-FFF2-40B4-BE49-F238E27FC236}">
                <a16:creationId xmlns:a16="http://schemas.microsoft.com/office/drawing/2014/main" id="{EAED82ED-47E2-AB7B-EFE4-B35D6C7716B8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10">
            <a:extLst>
              <a:ext uri="{FF2B5EF4-FFF2-40B4-BE49-F238E27FC236}">
                <a16:creationId xmlns:a16="http://schemas.microsoft.com/office/drawing/2014/main" id="{897E10CD-4D32-F2F0-F93E-028E154BF330}"/>
              </a:ext>
            </a:extLst>
          </p:cNvPr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11">
            <a:extLst>
              <a:ext uri="{FF2B5EF4-FFF2-40B4-BE49-F238E27FC236}">
                <a16:creationId xmlns:a16="http://schemas.microsoft.com/office/drawing/2014/main" id="{580CC5F7-7D13-8D86-41C6-F1AEC53A0C19}"/>
              </a:ext>
            </a:extLst>
          </p:cNvPr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2">
            <a:extLst>
              <a:ext uri="{FF2B5EF4-FFF2-40B4-BE49-F238E27FC236}">
                <a16:creationId xmlns:a16="http://schemas.microsoft.com/office/drawing/2014/main" id="{BE7BB4E3-FA99-B655-05B2-B8C8E489EEEB}"/>
              </a:ext>
            </a:extLst>
          </p:cNvPr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3">
            <a:extLst>
              <a:ext uri="{FF2B5EF4-FFF2-40B4-BE49-F238E27FC236}">
                <a16:creationId xmlns:a16="http://schemas.microsoft.com/office/drawing/2014/main" id="{0A06DDBF-AE78-9493-329F-85E90B94BCE8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4">
            <a:extLst>
              <a:ext uri="{FF2B5EF4-FFF2-40B4-BE49-F238E27FC236}">
                <a16:creationId xmlns:a16="http://schemas.microsoft.com/office/drawing/2014/main" id="{82FF28D6-9C3B-1473-3272-597C7F660844}"/>
              </a:ext>
            </a:extLst>
          </p:cNvPr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15">
            <a:extLst>
              <a:ext uri="{FF2B5EF4-FFF2-40B4-BE49-F238E27FC236}">
                <a16:creationId xmlns:a16="http://schemas.microsoft.com/office/drawing/2014/main" id="{03533EBA-E8BD-350D-3BFA-359CF81A0770}"/>
              </a:ext>
            </a:extLst>
          </p:cNvPr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6">
            <a:extLst>
              <a:ext uri="{FF2B5EF4-FFF2-40B4-BE49-F238E27FC236}">
                <a16:creationId xmlns:a16="http://schemas.microsoft.com/office/drawing/2014/main" id="{D8D0FBCE-6850-6EDA-763A-7B382ED09A20}"/>
              </a:ext>
            </a:extLst>
          </p:cNvPr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7">
            <a:extLst>
              <a:ext uri="{FF2B5EF4-FFF2-40B4-BE49-F238E27FC236}">
                <a16:creationId xmlns:a16="http://schemas.microsoft.com/office/drawing/2014/main" id="{D9D22E03-1309-33C6-D430-A40973D4382D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18">
            <a:extLst>
              <a:ext uri="{FF2B5EF4-FFF2-40B4-BE49-F238E27FC236}">
                <a16:creationId xmlns:a16="http://schemas.microsoft.com/office/drawing/2014/main" id="{2071B3A8-FA58-0C79-CFAD-82EA0AB8CB09}"/>
              </a:ext>
            </a:extLst>
          </p:cNvPr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19">
            <a:extLst>
              <a:ext uri="{FF2B5EF4-FFF2-40B4-BE49-F238E27FC236}">
                <a16:creationId xmlns:a16="http://schemas.microsoft.com/office/drawing/2014/main" id="{589209E9-54C1-04A4-807E-310C94595C81}"/>
              </a:ext>
            </a:extLst>
          </p:cNvPr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20">
            <a:extLst>
              <a:ext uri="{FF2B5EF4-FFF2-40B4-BE49-F238E27FC236}">
                <a16:creationId xmlns:a16="http://schemas.microsoft.com/office/drawing/2014/main" id="{2994823A-D02D-D047-47B4-216E13366812}"/>
              </a:ext>
            </a:extLst>
          </p:cNvPr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21">
            <a:extLst>
              <a:ext uri="{FF2B5EF4-FFF2-40B4-BE49-F238E27FC236}">
                <a16:creationId xmlns:a16="http://schemas.microsoft.com/office/drawing/2014/main" id="{CC591576-C8B2-15C6-DAC9-097E3DCC751E}"/>
              </a:ext>
            </a:extLst>
          </p:cNvPr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22">
            <a:extLst>
              <a:ext uri="{FF2B5EF4-FFF2-40B4-BE49-F238E27FC236}">
                <a16:creationId xmlns:a16="http://schemas.microsoft.com/office/drawing/2014/main" id="{AF6B43DE-E237-CC6A-E485-E783D599E5B5}"/>
              </a:ext>
            </a:extLst>
          </p:cNvPr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23">
            <a:extLst>
              <a:ext uri="{FF2B5EF4-FFF2-40B4-BE49-F238E27FC236}">
                <a16:creationId xmlns:a16="http://schemas.microsoft.com/office/drawing/2014/main" id="{E752E8AA-6C10-1F8F-A094-5D61248880F6}"/>
              </a:ext>
            </a:extLst>
          </p:cNvPr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24">
            <a:extLst>
              <a:ext uri="{FF2B5EF4-FFF2-40B4-BE49-F238E27FC236}">
                <a16:creationId xmlns:a16="http://schemas.microsoft.com/office/drawing/2014/main" id="{2BBE7DFB-FFDA-8CCA-D960-93C9796F19FF}"/>
              </a:ext>
            </a:extLst>
          </p:cNvPr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25">
            <a:extLst>
              <a:ext uri="{FF2B5EF4-FFF2-40B4-BE49-F238E27FC236}">
                <a16:creationId xmlns:a16="http://schemas.microsoft.com/office/drawing/2014/main" id="{077A27DA-82B2-9AB2-AB66-031AE6FD12E6}"/>
              </a:ext>
            </a:extLst>
          </p:cNvPr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26">
            <a:extLst>
              <a:ext uri="{FF2B5EF4-FFF2-40B4-BE49-F238E27FC236}">
                <a16:creationId xmlns:a16="http://schemas.microsoft.com/office/drawing/2014/main" id="{9DF8F87B-A308-A015-A736-3078812F89EF}"/>
              </a:ext>
            </a:extLst>
          </p:cNvPr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27">
            <a:extLst>
              <a:ext uri="{FF2B5EF4-FFF2-40B4-BE49-F238E27FC236}">
                <a16:creationId xmlns:a16="http://schemas.microsoft.com/office/drawing/2014/main" id="{ED871158-37DF-5D62-2497-64803FFF0564}"/>
              </a:ext>
            </a:extLst>
          </p:cNvPr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28">
            <a:extLst>
              <a:ext uri="{FF2B5EF4-FFF2-40B4-BE49-F238E27FC236}">
                <a16:creationId xmlns:a16="http://schemas.microsoft.com/office/drawing/2014/main" id="{DB544758-27B9-3ACA-6755-153F6EE02697}"/>
              </a:ext>
            </a:extLst>
          </p:cNvPr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CA8A7829-4385-A218-D8D1-B82701795043}"/>
              </a:ext>
            </a:extLst>
          </p:cNvPr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F874E3-B835-8FB0-B9ED-DBDB2ACE00B4}"/>
              </a:ext>
            </a:extLst>
          </p:cNvPr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F1A0100-4AC2-0D78-88F8-4BBB340CF9E9}"/>
              </a:ext>
            </a:extLst>
          </p:cNvPr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2926080" cy="22860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rPr dirty="0"/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Internet Dependency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291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All popular messaging apps rely on cloud servers and active internet connectivity to exchange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86000"/>
            <a:ext cx="2926080" cy="22860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Dead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91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Remote areas, disaster zones, underground venues, and events often have no cellular signal or Wi-Fi infrastructure.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286000"/>
            <a:ext cx="2926080" cy="22860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Privacy &amp; Surveillance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3291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Server-based messaging exposes messages to third-party cloud providers, creating privacy and security concerns.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5029200"/>
            <a:ext cx="7589520" cy="731520"/>
          </a:xfrm>
          <a:prstGeom prst="rect">
            <a:avLst/>
          </a:prstGeom>
          <a:solidFill>
            <a:srgbClr val="0A1E2D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0" y="521208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💡 The Need: A simple, infrastructure-free communication method that works with just a small device and smartphones.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DE4CDF-6803-AA20-FA95-6EB6A083018E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2">
            <a:extLst>
              <a:ext uri="{FF2B5EF4-FFF2-40B4-BE49-F238E27FC236}">
                <a16:creationId xmlns:a16="http://schemas.microsoft.com/office/drawing/2014/main" id="{A6D2CF99-E19F-10F4-BD27-3945ED0707A6}"/>
              </a:ext>
            </a:extLst>
          </p:cNvPr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3">
            <a:extLst>
              <a:ext uri="{FF2B5EF4-FFF2-40B4-BE49-F238E27FC236}">
                <a16:creationId xmlns:a16="http://schemas.microsoft.com/office/drawing/2014/main" id="{C61D13D9-736E-041D-A221-B245562365C6}"/>
              </a:ext>
            </a:extLst>
          </p:cNvPr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4">
            <a:extLst>
              <a:ext uri="{FF2B5EF4-FFF2-40B4-BE49-F238E27FC236}">
                <a16:creationId xmlns:a16="http://schemas.microsoft.com/office/drawing/2014/main" id="{7B1CBDF6-460C-3572-6A4C-51F31C83CB9C}"/>
              </a:ext>
            </a:extLst>
          </p:cNvPr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5">
            <a:extLst>
              <a:ext uri="{FF2B5EF4-FFF2-40B4-BE49-F238E27FC236}">
                <a16:creationId xmlns:a16="http://schemas.microsoft.com/office/drawing/2014/main" id="{29CAE951-646C-30BB-2CEE-6C1162550960}"/>
              </a:ext>
            </a:extLst>
          </p:cNvPr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6">
            <a:extLst>
              <a:ext uri="{FF2B5EF4-FFF2-40B4-BE49-F238E27FC236}">
                <a16:creationId xmlns:a16="http://schemas.microsoft.com/office/drawing/2014/main" id="{4E02FC89-7B0C-2C4E-F436-874C504FA90C}"/>
              </a:ext>
            </a:extLst>
          </p:cNvPr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7">
            <a:extLst>
              <a:ext uri="{FF2B5EF4-FFF2-40B4-BE49-F238E27FC236}">
                <a16:creationId xmlns:a16="http://schemas.microsoft.com/office/drawing/2014/main" id="{569868A4-1C04-3C47-E52C-147A1E00F69A}"/>
              </a:ext>
            </a:extLst>
          </p:cNvPr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8">
            <a:extLst>
              <a:ext uri="{FF2B5EF4-FFF2-40B4-BE49-F238E27FC236}">
                <a16:creationId xmlns:a16="http://schemas.microsoft.com/office/drawing/2014/main" id="{0DAE9572-528C-D476-64AB-3760A70C5391}"/>
              </a:ext>
            </a:extLst>
          </p:cNvPr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9">
            <a:extLst>
              <a:ext uri="{FF2B5EF4-FFF2-40B4-BE49-F238E27FC236}">
                <a16:creationId xmlns:a16="http://schemas.microsoft.com/office/drawing/2014/main" id="{69A2369E-4728-7D16-BC8A-7D92189861FE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0">
            <a:extLst>
              <a:ext uri="{FF2B5EF4-FFF2-40B4-BE49-F238E27FC236}">
                <a16:creationId xmlns:a16="http://schemas.microsoft.com/office/drawing/2014/main" id="{A55A9155-13CC-498E-5915-93FD3062824A}"/>
              </a:ext>
            </a:extLst>
          </p:cNvPr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11">
            <a:extLst>
              <a:ext uri="{FF2B5EF4-FFF2-40B4-BE49-F238E27FC236}">
                <a16:creationId xmlns:a16="http://schemas.microsoft.com/office/drawing/2014/main" id="{64201210-56EA-6401-1A89-FEE4169B6C74}"/>
              </a:ext>
            </a:extLst>
          </p:cNvPr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12">
            <a:extLst>
              <a:ext uri="{FF2B5EF4-FFF2-40B4-BE49-F238E27FC236}">
                <a16:creationId xmlns:a16="http://schemas.microsoft.com/office/drawing/2014/main" id="{47FC5047-2223-99AF-9B79-FC63321D9A58}"/>
              </a:ext>
            </a:extLst>
          </p:cNvPr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13">
            <a:extLst>
              <a:ext uri="{FF2B5EF4-FFF2-40B4-BE49-F238E27FC236}">
                <a16:creationId xmlns:a16="http://schemas.microsoft.com/office/drawing/2014/main" id="{93EF183C-C2BB-DF8F-74F2-19C70BF8CBE1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14">
            <a:extLst>
              <a:ext uri="{FF2B5EF4-FFF2-40B4-BE49-F238E27FC236}">
                <a16:creationId xmlns:a16="http://schemas.microsoft.com/office/drawing/2014/main" id="{F9149A98-F6D0-C6ED-B480-0A9EB8A74A95}"/>
              </a:ext>
            </a:extLst>
          </p:cNvPr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5">
            <a:extLst>
              <a:ext uri="{FF2B5EF4-FFF2-40B4-BE49-F238E27FC236}">
                <a16:creationId xmlns:a16="http://schemas.microsoft.com/office/drawing/2014/main" id="{DFDFAE55-961F-3A85-0BC0-38C980C3D401}"/>
              </a:ext>
            </a:extLst>
          </p:cNvPr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16">
            <a:extLst>
              <a:ext uri="{FF2B5EF4-FFF2-40B4-BE49-F238E27FC236}">
                <a16:creationId xmlns:a16="http://schemas.microsoft.com/office/drawing/2014/main" id="{2A385581-3C69-B4B1-31C5-A287AD3F4453}"/>
              </a:ext>
            </a:extLst>
          </p:cNvPr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17">
            <a:extLst>
              <a:ext uri="{FF2B5EF4-FFF2-40B4-BE49-F238E27FC236}">
                <a16:creationId xmlns:a16="http://schemas.microsoft.com/office/drawing/2014/main" id="{5BB6B63E-3B60-885B-BEA4-9C9E4A8D062C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18">
            <a:extLst>
              <a:ext uri="{FF2B5EF4-FFF2-40B4-BE49-F238E27FC236}">
                <a16:creationId xmlns:a16="http://schemas.microsoft.com/office/drawing/2014/main" id="{6D327A63-8680-A1AD-EF7F-CF4E38F487D7}"/>
              </a:ext>
            </a:extLst>
          </p:cNvPr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19">
            <a:extLst>
              <a:ext uri="{FF2B5EF4-FFF2-40B4-BE49-F238E27FC236}">
                <a16:creationId xmlns:a16="http://schemas.microsoft.com/office/drawing/2014/main" id="{1FFA4C83-8704-A465-3330-05E5126969C6}"/>
              </a:ext>
            </a:extLst>
          </p:cNvPr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0">
            <a:extLst>
              <a:ext uri="{FF2B5EF4-FFF2-40B4-BE49-F238E27FC236}">
                <a16:creationId xmlns:a16="http://schemas.microsoft.com/office/drawing/2014/main" id="{A964CF70-C1ED-B0DB-065C-1276DF0F8D4F}"/>
              </a:ext>
            </a:extLst>
          </p:cNvPr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21">
            <a:extLst>
              <a:ext uri="{FF2B5EF4-FFF2-40B4-BE49-F238E27FC236}">
                <a16:creationId xmlns:a16="http://schemas.microsoft.com/office/drawing/2014/main" id="{706E5C80-0F60-6F55-0EB1-1E549FE9E6B8}"/>
              </a:ext>
            </a:extLst>
          </p:cNvPr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22">
            <a:extLst>
              <a:ext uri="{FF2B5EF4-FFF2-40B4-BE49-F238E27FC236}">
                <a16:creationId xmlns:a16="http://schemas.microsoft.com/office/drawing/2014/main" id="{65A15BF5-13BC-F7AA-C642-A57E1EB361A7}"/>
              </a:ext>
            </a:extLst>
          </p:cNvPr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23">
            <a:extLst>
              <a:ext uri="{FF2B5EF4-FFF2-40B4-BE49-F238E27FC236}">
                <a16:creationId xmlns:a16="http://schemas.microsoft.com/office/drawing/2014/main" id="{BEB1DC05-2EC7-AC5B-7801-91DF9056DC92}"/>
              </a:ext>
            </a:extLst>
          </p:cNvPr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24">
            <a:extLst>
              <a:ext uri="{FF2B5EF4-FFF2-40B4-BE49-F238E27FC236}">
                <a16:creationId xmlns:a16="http://schemas.microsoft.com/office/drawing/2014/main" id="{543E742D-65F9-77CE-2C8D-1C89EA61C313}"/>
              </a:ext>
            </a:extLst>
          </p:cNvPr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25">
            <a:extLst>
              <a:ext uri="{FF2B5EF4-FFF2-40B4-BE49-F238E27FC236}">
                <a16:creationId xmlns:a16="http://schemas.microsoft.com/office/drawing/2014/main" id="{84689ADD-ADC3-759B-0019-3202997FDF7E}"/>
              </a:ext>
            </a:extLst>
          </p:cNvPr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26">
            <a:extLst>
              <a:ext uri="{FF2B5EF4-FFF2-40B4-BE49-F238E27FC236}">
                <a16:creationId xmlns:a16="http://schemas.microsoft.com/office/drawing/2014/main" id="{84ECC1EF-CDF4-B838-D189-B6568E2CF456}"/>
              </a:ext>
            </a:extLst>
          </p:cNvPr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27">
            <a:extLst>
              <a:ext uri="{FF2B5EF4-FFF2-40B4-BE49-F238E27FC236}">
                <a16:creationId xmlns:a16="http://schemas.microsoft.com/office/drawing/2014/main" id="{87CDE18C-7CD5-23D7-BAF5-DFEA557D0A40}"/>
              </a:ext>
            </a:extLst>
          </p:cNvPr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28">
            <a:extLst>
              <a:ext uri="{FF2B5EF4-FFF2-40B4-BE49-F238E27FC236}">
                <a16:creationId xmlns:a16="http://schemas.microsoft.com/office/drawing/2014/main" id="{ABFBC190-294C-57F2-6413-46D67D357563}"/>
              </a:ext>
            </a:extLst>
          </p:cNvPr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92C6A555-DF7D-D32B-CCC7-187B620BF6D8}"/>
              </a:ext>
            </a:extLst>
          </p:cNvPr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9A467A4-52B5-04FF-BE74-919BCD0A1AD3}"/>
              </a:ext>
            </a:extLst>
          </p:cNvPr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3777BE-AD6D-486A-39A6-43BCE6A0AD96}"/>
              </a:ext>
            </a:extLst>
          </p:cNvPr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Introducing PeerLink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PeerLink transforms an ESP32 microcontroller into a portable Wi-Fi relay hub. Nearby Android phones connect to it and can chat with each other — completely offline, no SIM card, no internet, no server.</a:t>
            </a:r>
            <a:br/>
            <a:br/>
            <a:r>
              <a:t>• Works anywhere — even in remote areas</a:t>
            </a:r>
            <a:br/>
            <a:r>
              <a:t>• No registration, no accounts, no cloud</a:t>
            </a:r>
            <a:br/>
            <a:r>
              <a:t>• ESP32 costs under ₹400 and runs on a phone charger</a:t>
            </a:r>
            <a:br/>
            <a:r>
              <a:t>• End-to-end local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286000"/>
            <a:ext cx="4114800" cy="32004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2729435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rPr dirty="0"/>
              <a:t>ESP32 Acts As: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8020" y="3042330"/>
            <a:ext cx="3749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• Wi-Fi Access Point (hotspot)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UDP packet relay / router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Client registry &amp; tracker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Presence broadcaster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45FE7C0-F870-6A7A-FFAF-E46ACF0632EE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2">
            <a:extLst>
              <a:ext uri="{FF2B5EF4-FFF2-40B4-BE49-F238E27FC236}">
                <a16:creationId xmlns:a16="http://schemas.microsoft.com/office/drawing/2014/main" id="{37AD30B9-3289-D62F-AD1B-23F5F0DB9B9D}"/>
              </a:ext>
            </a:extLst>
          </p:cNvPr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3">
            <a:extLst>
              <a:ext uri="{FF2B5EF4-FFF2-40B4-BE49-F238E27FC236}">
                <a16:creationId xmlns:a16="http://schemas.microsoft.com/office/drawing/2014/main" id="{994804B2-5481-F37D-1277-0FDBFF0219D5}"/>
              </a:ext>
            </a:extLst>
          </p:cNvPr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">
            <a:extLst>
              <a:ext uri="{FF2B5EF4-FFF2-40B4-BE49-F238E27FC236}">
                <a16:creationId xmlns:a16="http://schemas.microsoft.com/office/drawing/2014/main" id="{59AE72B4-4847-492D-62DE-9B50A4348EA1}"/>
              </a:ext>
            </a:extLst>
          </p:cNvPr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5">
            <a:extLst>
              <a:ext uri="{FF2B5EF4-FFF2-40B4-BE49-F238E27FC236}">
                <a16:creationId xmlns:a16="http://schemas.microsoft.com/office/drawing/2014/main" id="{D6C61D53-93DA-2F3B-79D1-810DB66D8CDC}"/>
              </a:ext>
            </a:extLst>
          </p:cNvPr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6">
            <a:extLst>
              <a:ext uri="{FF2B5EF4-FFF2-40B4-BE49-F238E27FC236}">
                <a16:creationId xmlns:a16="http://schemas.microsoft.com/office/drawing/2014/main" id="{88E65BDB-D480-8D78-FBD7-F37E45BBBDA1}"/>
              </a:ext>
            </a:extLst>
          </p:cNvPr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7">
            <a:extLst>
              <a:ext uri="{FF2B5EF4-FFF2-40B4-BE49-F238E27FC236}">
                <a16:creationId xmlns:a16="http://schemas.microsoft.com/office/drawing/2014/main" id="{071A93D0-413E-67AE-3695-C1736C9558E5}"/>
              </a:ext>
            </a:extLst>
          </p:cNvPr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8">
            <a:extLst>
              <a:ext uri="{FF2B5EF4-FFF2-40B4-BE49-F238E27FC236}">
                <a16:creationId xmlns:a16="http://schemas.microsoft.com/office/drawing/2014/main" id="{00A5DC91-0627-0858-B3F0-1110C8B51A1B}"/>
              </a:ext>
            </a:extLst>
          </p:cNvPr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9">
            <a:extLst>
              <a:ext uri="{FF2B5EF4-FFF2-40B4-BE49-F238E27FC236}">
                <a16:creationId xmlns:a16="http://schemas.microsoft.com/office/drawing/2014/main" id="{79EC13F5-D58E-295C-E76D-DCE22844A362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10">
            <a:extLst>
              <a:ext uri="{FF2B5EF4-FFF2-40B4-BE49-F238E27FC236}">
                <a16:creationId xmlns:a16="http://schemas.microsoft.com/office/drawing/2014/main" id="{817AFC86-9AB8-D201-C393-A370E29AD977}"/>
              </a:ext>
            </a:extLst>
          </p:cNvPr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11">
            <a:extLst>
              <a:ext uri="{FF2B5EF4-FFF2-40B4-BE49-F238E27FC236}">
                <a16:creationId xmlns:a16="http://schemas.microsoft.com/office/drawing/2014/main" id="{43C0865B-0E8F-3A01-5EE5-02FB181554D1}"/>
              </a:ext>
            </a:extLst>
          </p:cNvPr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2">
            <a:extLst>
              <a:ext uri="{FF2B5EF4-FFF2-40B4-BE49-F238E27FC236}">
                <a16:creationId xmlns:a16="http://schemas.microsoft.com/office/drawing/2014/main" id="{F2D4EDDA-1B46-11E6-FAEA-855CCCE91B2B}"/>
              </a:ext>
            </a:extLst>
          </p:cNvPr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3">
            <a:extLst>
              <a:ext uri="{FF2B5EF4-FFF2-40B4-BE49-F238E27FC236}">
                <a16:creationId xmlns:a16="http://schemas.microsoft.com/office/drawing/2014/main" id="{57226DAE-6642-F17A-12A2-AADB113FC2EA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14">
            <a:extLst>
              <a:ext uri="{FF2B5EF4-FFF2-40B4-BE49-F238E27FC236}">
                <a16:creationId xmlns:a16="http://schemas.microsoft.com/office/drawing/2014/main" id="{E9AA1EA1-E268-1787-44AE-1DF1AAED09A5}"/>
              </a:ext>
            </a:extLst>
          </p:cNvPr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15">
            <a:extLst>
              <a:ext uri="{FF2B5EF4-FFF2-40B4-BE49-F238E27FC236}">
                <a16:creationId xmlns:a16="http://schemas.microsoft.com/office/drawing/2014/main" id="{F9E5414B-123D-82BA-F046-11A415B7C73B}"/>
              </a:ext>
            </a:extLst>
          </p:cNvPr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16">
            <a:extLst>
              <a:ext uri="{FF2B5EF4-FFF2-40B4-BE49-F238E27FC236}">
                <a16:creationId xmlns:a16="http://schemas.microsoft.com/office/drawing/2014/main" id="{DB9C7D30-1DBE-164C-FED4-8011B1958E99}"/>
              </a:ext>
            </a:extLst>
          </p:cNvPr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17">
            <a:extLst>
              <a:ext uri="{FF2B5EF4-FFF2-40B4-BE49-F238E27FC236}">
                <a16:creationId xmlns:a16="http://schemas.microsoft.com/office/drawing/2014/main" id="{D3385AF7-3D3B-EC11-3368-C046766E6593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18">
            <a:extLst>
              <a:ext uri="{FF2B5EF4-FFF2-40B4-BE49-F238E27FC236}">
                <a16:creationId xmlns:a16="http://schemas.microsoft.com/office/drawing/2014/main" id="{C9DE4CDD-784B-46CE-A08B-9304A390E397}"/>
              </a:ext>
            </a:extLst>
          </p:cNvPr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19">
            <a:extLst>
              <a:ext uri="{FF2B5EF4-FFF2-40B4-BE49-F238E27FC236}">
                <a16:creationId xmlns:a16="http://schemas.microsoft.com/office/drawing/2014/main" id="{CBAF44B2-6765-BDD0-2F8E-1D176FEF5BE6}"/>
              </a:ext>
            </a:extLst>
          </p:cNvPr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20">
            <a:extLst>
              <a:ext uri="{FF2B5EF4-FFF2-40B4-BE49-F238E27FC236}">
                <a16:creationId xmlns:a16="http://schemas.microsoft.com/office/drawing/2014/main" id="{5372AAE6-C423-492C-EC8D-F2F90BAF95B8}"/>
              </a:ext>
            </a:extLst>
          </p:cNvPr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21">
            <a:extLst>
              <a:ext uri="{FF2B5EF4-FFF2-40B4-BE49-F238E27FC236}">
                <a16:creationId xmlns:a16="http://schemas.microsoft.com/office/drawing/2014/main" id="{E4F4A0CA-378E-6110-8CFD-9F2E9AFB0D94}"/>
              </a:ext>
            </a:extLst>
          </p:cNvPr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22">
            <a:extLst>
              <a:ext uri="{FF2B5EF4-FFF2-40B4-BE49-F238E27FC236}">
                <a16:creationId xmlns:a16="http://schemas.microsoft.com/office/drawing/2014/main" id="{2F3505D5-A705-77CD-53BA-9F7DD1C06E67}"/>
              </a:ext>
            </a:extLst>
          </p:cNvPr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23">
            <a:extLst>
              <a:ext uri="{FF2B5EF4-FFF2-40B4-BE49-F238E27FC236}">
                <a16:creationId xmlns:a16="http://schemas.microsoft.com/office/drawing/2014/main" id="{77B710A3-150D-B44C-A953-952B01D016A6}"/>
              </a:ext>
            </a:extLst>
          </p:cNvPr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24">
            <a:extLst>
              <a:ext uri="{FF2B5EF4-FFF2-40B4-BE49-F238E27FC236}">
                <a16:creationId xmlns:a16="http://schemas.microsoft.com/office/drawing/2014/main" id="{54713FD6-338F-A0CB-A686-DB4225277085}"/>
              </a:ext>
            </a:extLst>
          </p:cNvPr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25">
            <a:extLst>
              <a:ext uri="{FF2B5EF4-FFF2-40B4-BE49-F238E27FC236}">
                <a16:creationId xmlns:a16="http://schemas.microsoft.com/office/drawing/2014/main" id="{9D58F9E5-A015-0F5D-0FF5-3EE52DB29183}"/>
              </a:ext>
            </a:extLst>
          </p:cNvPr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26">
            <a:extLst>
              <a:ext uri="{FF2B5EF4-FFF2-40B4-BE49-F238E27FC236}">
                <a16:creationId xmlns:a16="http://schemas.microsoft.com/office/drawing/2014/main" id="{C0BCC690-705E-AF48-241C-8049CB934D27}"/>
              </a:ext>
            </a:extLst>
          </p:cNvPr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27">
            <a:extLst>
              <a:ext uri="{FF2B5EF4-FFF2-40B4-BE49-F238E27FC236}">
                <a16:creationId xmlns:a16="http://schemas.microsoft.com/office/drawing/2014/main" id="{13FBC35E-E588-E512-0E3B-3A9C31C32EE3}"/>
              </a:ext>
            </a:extLst>
          </p:cNvPr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28">
            <a:extLst>
              <a:ext uri="{FF2B5EF4-FFF2-40B4-BE49-F238E27FC236}">
                <a16:creationId xmlns:a16="http://schemas.microsoft.com/office/drawing/2014/main" id="{D801D40E-EBA6-A076-2EF6-983C9E4F3915}"/>
              </a:ext>
            </a:extLst>
          </p:cNvPr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8C40E9C9-CA18-79F0-DA05-38EA6DE05FDD}"/>
              </a:ext>
            </a:extLst>
          </p:cNvPr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1896721-97E5-FA3C-7CE1-779359B757E6}"/>
              </a:ext>
            </a:extLst>
          </p:cNvPr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435F0D2-C037-6198-1844-96455D8519A8}"/>
              </a:ext>
            </a:extLst>
          </p:cNvPr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Architecture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182880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Android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011680"/>
            <a:ext cx="201168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39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WifiNetworkSpecifier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Auto-connects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11680"/>
            <a:ext cx="182880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Arial"/>
              </a:defRPr>
            </a:pPr>
            <a:r>
              <a:t>ESP32 Relay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Routes port 8888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2011680"/>
            <a:ext cx="182880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Android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Receiver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114800"/>
            <a:ext cx="2377440" cy="13716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40685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432029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rPr dirty="0" err="1"/>
              <a:t>EspConnector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1097280" y="478191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rPr dirty="0"/>
              <a:t>Auto-joins </a:t>
            </a:r>
            <a:r>
              <a:rPr dirty="0" err="1"/>
              <a:t>PeerLink</a:t>
            </a:r>
            <a:r>
              <a:rPr dirty="0"/>
              <a:t> Wi-Fi using APIs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4114800"/>
            <a:ext cx="2377440" cy="13716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0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rPr dirty="0" err="1"/>
              <a:t>UdpChat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3657600" y="474308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rPr dirty="0"/>
              <a:t>Sends/receives JSON packets on UDP 8888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4114800"/>
            <a:ext cx="2377440" cy="13716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95061" y="4299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rPr dirty="0" err="1"/>
              <a:t>MeshService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6195061" y="477774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rPr dirty="0"/>
              <a:t>Android Foreground Service orchestration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4114800"/>
            <a:ext cx="2377440" cy="13716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78240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66933" y="432029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rPr dirty="0"/>
              <a:t>Room 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79617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rPr dirty="0"/>
              <a:t>Persists chat history locally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1959F38-EE07-DEEC-C703-F4284420BF2B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2">
            <a:extLst>
              <a:ext uri="{FF2B5EF4-FFF2-40B4-BE49-F238E27FC236}">
                <a16:creationId xmlns:a16="http://schemas.microsoft.com/office/drawing/2014/main" id="{E9693F38-8BEE-4BE8-75E7-727ECD75C540}"/>
              </a:ext>
            </a:extLst>
          </p:cNvPr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3">
            <a:extLst>
              <a:ext uri="{FF2B5EF4-FFF2-40B4-BE49-F238E27FC236}">
                <a16:creationId xmlns:a16="http://schemas.microsoft.com/office/drawing/2014/main" id="{785C0199-7710-CEB7-FF66-28A409115249}"/>
              </a:ext>
            </a:extLst>
          </p:cNvPr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4">
            <a:extLst>
              <a:ext uri="{FF2B5EF4-FFF2-40B4-BE49-F238E27FC236}">
                <a16:creationId xmlns:a16="http://schemas.microsoft.com/office/drawing/2014/main" id="{FF99EB67-5392-CA6C-F334-5D7C51560854}"/>
              </a:ext>
            </a:extLst>
          </p:cNvPr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5">
            <a:extLst>
              <a:ext uri="{FF2B5EF4-FFF2-40B4-BE49-F238E27FC236}">
                <a16:creationId xmlns:a16="http://schemas.microsoft.com/office/drawing/2014/main" id="{AFEC3194-A0E4-8D1E-8E9B-283FD4574295}"/>
              </a:ext>
            </a:extLst>
          </p:cNvPr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6">
            <a:extLst>
              <a:ext uri="{FF2B5EF4-FFF2-40B4-BE49-F238E27FC236}">
                <a16:creationId xmlns:a16="http://schemas.microsoft.com/office/drawing/2014/main" id="{600DFC43-A089-F24A-5002-0B9B3255B65D}"/>
              </a:ext>
            </a:extLst>
          </p:cNvPr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7">
            <a:extLst>
              <a:ext uri="{FF2B5EF4-FFF2-40B4-BE49-F238E27FC236}">
                <a16:creationId xmlns:a16="http://schemas.microsoft.com/office/drawing/2014/main" id="{FBA738B1-5025-C5D1-772B-0EE0DCBABFD7}"/>
              </a:ext>
            </a:extLst>
          </p:cNvPr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8">
            <a:extLst>
              <a:ext uri="{FF2B5EF4-FFF2-40B4-BE49-F238E27FC236}">
                <a16:creationId xmlns:a16="http://schemas.microsoft.com/office/drawing/2014/main" id="{73BC4E96-F811-E13C-C64C-B31C2369C465}"/>
              </a:ext>
            </a:extLst>
          </p:cNvPr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9">
            <a:extLst>
              <a:ext uri="{FF2B5EF4-FFF2-40B4-BE49-F238E27FC236}">
                <a16:creationId xmlns:a16="http://schemas.microsoft.com/office/drawing/2014/main" id="{D5312FD6-7A75-7907-85E5-3BD43AB9A7E9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10">
            <a:extLst>
              <a:ext uri="{FF2B5EF4-FFF2-40B4-BE49-F238E27FC236}">
                <a16:creationId xmlns:a16="http://schemas.microsoft.com/office/drawing/2014/main" id="{A36F2555-2FF0-6F73-EC92-88B9D71D720A}"/>
              </a:ext>
            </a:extLst>
          </p:cNvPr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11">
            <a:extLst>
              <a:ext uri="{FF2B5EF4-FFF2-40B4-BE49-F238E27FC236}">
                <a16:creationId xmlns:a16="http://schemas.microsoft.com/office/drawing/2014/main" id="{DBD21DAC-482A-4386-4606-9DBE1CAB8953}"/>
              </a:ext>
            </a:extLst>
          </p:cNvPr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12">
            <a:extLst>
              <a:ext uri="{FF2B5EF4-FFF2-40B4-BE49-F238E27FC236}">
                <a16:creationId xmlns:a16="http://schemas.microsoft.com/office/drawing/2014/main" id="{86AE3D0E-F301-C930-DBBD-E01BF493F8E2}"/>
              </a:ext>
            </a:extLst>
          </p:cNvPr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13">
            <a:extLst>
              <a:ext uri="{FF2B5EF4-FFF2-40B4-BE49-F238E27FC236}">
                <a16:creationId xmlns:a16="http://schemas.microsoft.com/office/drawing/2014/main" id="{06A3E3DC-A8CD-A319-E192-C436274F386F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4">
            <a:extLst>
              <a:ext uri="{FF2B5EF4-FFF2-40B4-BE49-F238E27FC236}">
                <a16:creationId xmlns:a16="http://schemas.microsoft.com/office/drawing/2014/main" id="{B7080C68-A728-6E0A-2009-9142503BCCB7}"/>
              </a:ext>
            </a:extLst>
          </p:cNvPr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5">
            <a:extLst>
              <a:ext uri="{FF2B5EF4-FFF2-40B4-BE49-F238E27FC236}">
                <a16:creationId xmlns:a16="http://schemas.microsoft.com/office/drawing/2014/main" id="{A951788F-9474-96DE-1B70-26B7178C2398}"/>
              </a:ext>
            </a:extLst>
          </p:cNvPr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6">
            <a:extLst>
              <a:ext uri="{FF2B5EF4-FFF2-40B4-BE49-F238E27FC236}">
                <a16:creationId xmlns:a16="http://schemas.microsoft.com/office/drawing/2014/main" id="{697B9091-AB97-4D2E-F9F3-8418D783B545}"/>
              </a:ext>
            </a:extLst>
          </p:cNvPr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17">
            <a:extLst>
              <a:ext uri="{FF2B5EF4-FFF2-40B4-BE49-F238E27FC236}">
                <a16:creationId xmlns:a16="http://schemas.microsoft.com/office/drawing/2014/main" id="{04804DA1-8047-60F7-2A09-2A209CFCCEED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8">
            <a:extLst>
              <a:ext uri="{FF2B5EF4-FFF2-40B4-BE49-F238E27FC236}">
                <a16:creationId xmlns:a16="http://schemas.microsoft.com/office/drawing/2014/main" id="{ADB821B4-F28B-F42D-4E11-ECD3A684F769}"/>
              </a:ext>
            </a:extLst>
          </p:cNvPr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9">
            <a:extLst>
              <a:ext uri="{FF2B5EF4-FFF2-40B4-BE49-F238E27FC236}">
                <a16:creationId xmlns:a16="http://schemas.microsoft.com/office/drawing/2014/main" id="{F3920834-CC0D-DCED-4EF3-657283E4A247}"/>
              </a:ext>
            </a:extLst>
          </p:cNvPr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20">
            <a:extLst>
              <a:ext uri="{FF2B5EF4-FFF2-40B4-BE49-F238E27FC236}">
                <a16:creationId xmlns:a16="http://schemas.microsoft.com/office/drawing/2014/main" id="{9BBA7253-0941-070E-F40C-867CDBF61FB6}"/>
              </a:ext>
            </a:extLst>
          </p:cNvPr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21">
            <a:extLst>
              <a:ext uri="{FF2B5EF4-FFF2-40B4-BE49-F238E27FC236}">
                <a16:creationId xmlns:a16="http://schemas.microsoft.com/office/drawing/2014/main" id="{018BA4E7-F18D-4082-BF75-583DC33C4198}"/>
              </a:ext>
            </a:extLst>
          </p:cNvPr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22">
            <a:extLst>
              <a:ext uri="{FF2B5EF4-FFF2-40B4-BE49-F238E27FC236}">
                <a16:creationId xmlns:a16="http://schemas.microsoft.com/office/drawing/2014/main" id="{93F6AE07-0C5A-4466-844E-53F980DE713C}"/>
              </a:ext>
            </a:extLst>
          </p:cNvPr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23">
            <a:extLst>
              <a:ext uri="{FF2B5EF4-FFF2-40B4-BE49-F238E27FC236}">
                <a16:creationId xmlns:a16="http://schemas.microsoft.com/office/drawing/2014/main" id="{67102C0E-E4EA-1A6A-0F1B-6D9594EDEDF0}"/>
              </a:ext>
            </a:extLst>
          </p:cNvPr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24">
            <a:extLst>
              <a:ext uri="{FF2B5EF4-FFF2-40B4-BE49-F238E27FC236}">
                <a16:creationId xmlns:a16="http://schemas.microsoft.com/office/drawing/2014/main" id="{E7672935-46C2-5FF5-2BE1-1C6EF1DF7A60}"/>
              </a:ext>
            </a:extLst>
          </p:cNvPr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25">
            <a:extLst>
              <a:ext uri="{FF2B5EF4-FFF2-40B4-BE49-F238E27FC236}">
                <a16:creationId xmlns:a16="http://schemas.microsoft.com/office/drawing/2014/main" id="{A2FB2C50-3575-A7A5-76B3-2B1F762E8136}"/>
              </a:ext>
            </a:extLst>
          </p:cNvPr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26">
            <a:extLst>
              <a:ext uri="{FF2B5EF4-FFF2-40B4-BE49-F238E27FC236}">
                <a16:creationId xmlns:a16="http://schemas.microsoft.com/office/drawing/2014/main" id="{CC06FDDE-53C2-2436-CB00-DD6758699F3D}"/>
              </a:ext>
            </a:extLst>
          </p:cNvPr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27">
            <a:extLst>
              <a:ext uri="{FF2B5EF4-FFF2-40B4-BE49-F238E27FC236}">
                <a16:creationId xmlns:a16="http://schemas.microsoft.com/office/drawing/2014/main" id="{49F2B3A5-5D1E-C449-0C41-D7876C9A9524}"/>
              </a:ext>
            </a:extLst>
          </p:cNvPr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28">
            <a:extLst>
              <a:ext uri="{FF2B5EF4-FFF2-40B4-BE49-F238E27FC236}">
                <a16:creationId xmlns:a16="http://schemas.microsoft.com/office/drawing/2014/main" id="{B8513AE9-CDE7-B70B-03E1-D1D64ED081CE}"/>
              </a:ext>
            </a:extLst>
          </p:cNvPr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5CDF0E11-F0C9-D27B-ECB5-A5CEFAF9AB1C}"/>
              </a:ext>
            </a:extLst>
          </p:cNvPr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59EC41A-B4AC-2B76-352C-EA0B799414E5}"/>
              </a:ext>
            </a:extLst>
          </p:cNvPr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B889A2-475D-F842-67E8-2F62D8A1BCE8}"/>
              </a:ext>
            </a:extLst>
          </p:cNvPr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HARDWARE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ESP32 Relay Firmware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• Wi-Fi AP Mode — Broadcasts SSID PeerLink_XXXX</a:t>
            </a:r>
            <a:br/>
            <a:r>
              <a:t>• UDP Server on port 8888 — Listens and routes</a:t>
            </a:r>
            <a:br/>
            <a:r>
              <a:t>• Client Registry — Tracks all connected devices</a:t>
            </a:r>
            <a:br/>
            <a:r>
              <a:t>• Presence Broadcast — Announces relay every 2s</a:t>
            </a:r>
            <a:br/>
            <a:r>
              <a:t>• Client Timeout — Removes inactive devices (30s)</a:t>
            </a:r>
            <a:br/>
            <a:r>
              <a:t>• LED Indicator — GPIO 2 blinks on activity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3035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Arial"/>
              </a:defRPr>
            </a:pPr>
            <a:r>
              <a:t>Arduino C++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53035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ArduinoJson</a:t>
            </a:r>
          </a:p>
        </p:txBody>
      </p:sp>
      <p:sp>
        <p:nvSpPr>
          <p:cNvPr id="13" name="Rounded Rectangle 33">
            <a:extLst>
              <a:ext uri="{FF2B5EF4-FFF2-40B4-BE49-F238E27FC236}">
                <a16:creationId xmlns:a16="http://schemas.microsoft.com/office/drawing/2014/main" id="{82113A3A-586A-0B44-2707-1655B3CE6BFD}"/>
              </a:ext>
            </a:extLst>
          </p:cNvPr>
          <p:cNvSpPr/>
          <p:nvPr/>
        </p:nvSpPr>
        <p:spPr>
          <a:xfrm>
            <a:off x="6446520" y="1600200"/>
            <a:ext cx="5486400" cy="3657600"/>
          </a:xfrm>
          <a:prstGeom prst="roundRect">
            <a:avLst/>
          </a:prstGeom>
          <a:solidFill>
            <a:srgbClr val="0A0A0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EC4480-7A16-C2EC-858D-A57F4DCB9EF1}"/>
              </a:ext>
            </a:extLst>
          </p:cNvPr>
          <p:cNvSpPr/>
          <p:nvPr/>
        </p:nvSpPr>
        <p:spPr>
          <a:xfrm>
            <a:off x="6616923" y="1898363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ADBB22-7B16-B136-352F-414A47CF5A55}"/>
              </a:ext>
            </a:extLst>
          </p:cNvPr>
          <p:cNvSpPr/>
          <p:nvPr/>
        </p:nvSpPr>
        <p:spPr>
          <a:xfrm>
            <a:off x="6905686" y="1898363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3B6A092-E784-57FB-F6CD-6C7F4D21C00A}"/>
              </a:ext>
            </a:extLst>
          </p:cNvPr>
          <p:cNvSpPr/>
          <p:nvPr/>
        </p:nvSpPr>
        <p:spPr>
          <a:xfrm>
            <a:off x="7179023" y="1898363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918CC8-3417-D24E-BA5A-7FDF96A328AA}"/>
              </a:ext>
            </a:extLst>
          </p:cNvPr>
          <p:cNvSpPr txBox="1"/>
          <p:nvPr/>
        </p:nvSpPr>
        <p:spPr>
          <a:xfrm>
            <a:off x="6629400" y="2470846"/>
            <a:ext cx="51206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  <a:latin typeface="Courier New"/>
              </a:defRPr>
            </a:pPr>
            <a:r>
              <a:rPr dirty="0"/>
              <a:t>void loop() {</a:t>
            </a:r>
            <a:br>
              <a:rPr dirty="0"/>
            </a:br>
            <a:r>
              <a:rPr dirty="0"/>
              <a:t>    int </a:t>
            </a:r>
            <a:r>
              <a:rPr dirty="0" err="1"/>
              <a:t>packetSize</a:t>
            </a:r>
            <a:r>
              <a:rPr dirty="0"/>
              <a:t> = </a:t>
            </a:r>
            <a:r>
              <a:rPr dirty="0" err="1"/>
              <a:t>UDP.parsePacket</a:t>
            </a:r>
            <a:r>
              <a:rPr dirty="0"/>
              <a:t>();</a:t>
            </a:r>
            <a:br>
              <a:rPr dirty="0"/>
            </a:br>
            <a:r>
              <a:rPr dirty="0"/>
              <a:t>    if (</a:t>
            </a:r>
            <a:r>
              <a:rPr dirty="0" err="1"/>
              <a:t>packetSize</a:t>
            </a:r>
            <a:r>
              <a:rPr dirty="0"/>
              <a:t>) {</a:t>
            </a:r>
            <a:br>
              <a:rPr dirty="0"/>
            </a:br>
            <a:r>
              <a:rPr dirty="0"/>
              <a:t>        String type = </a:t>
            </a:r>
            <a:r>
              <a:rPr dirty="0" err="1"/>
              <a:t>json</a:t>
            </a:r>
            <a:r>
              <a:rPr dirty="0"/>
              <a:t>["type"];</a:t>
            </a:r>
            <a:br>
              <a:rPr dirty="0"/>
            </a:br>
            <a:r>
              <a:rPr dirty="0"/>
              <a:t>        if (type == "chat") {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routePacket</a:t>
            </a:r>
            <a:r>
              <a:rPr dirty="0"/>
              <a:t>(</a:t>
            </a:r>
            <a:r>
              <a:rPr dirty="0" err="1"/>
              <a:t>json</a:t>
            </a:r>
            <a:r>
              <a:rPr dirty="0"/>
              <a:t>["payload"], </a:t>
            </a:r>
            <a:r>
              <a:rPr dirty="0" err="1"/>
              <a:t>json</a:t>
            </a:r>
            <a:r>
              <a:rPr dirty="0"/>
              <a:t>["to"]);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blinkLED</a:t>
            </a:r>
            <a:r>
              <a:rPr dirty="0"/>
              <a:t>(GPIO_2);</a:t>
            </a:r>
            <a:br>
              <a:rPr dirty="0"/>
            </a:br>
            <a:r>
              <a:rPr dirty="0"/>
              <a:t>       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    </a:t>
            </a:r>
            <a:r>
              <a:rPr dirty="0" err="1"/>
              <a:t>checkClientTimeouts</a:t>
            </a:r>
            <a:r>
              <a:rPr dirty="0"/>
              <a:t>();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0D795DB-6291-5313-ABFC-65775D8A997A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">
            <a:extLst>
              <a:ext uri="{FF2B5EF4-FFF2-40B4-BE49-F238E27FC236}">
                <a16:creationId xmlns:a16="http://schemas.microsoft.com/office/drawing/2014/main" id="{3B9B61DC-6590-21C0-4889-7E046426066E}"/>
              </a:ext>
            </a:extLst>
          </p:cNvPr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3">
            <a:extLst>
              <a:ext uri="{FF2B5EF4-FFF2-40B4-BE49-F238E27FC236}">
                <a16:creationId xmlns:a16="http://schemas.microsoft.com/office/drawing/2014/main" id="{0D6331CC-6B7D-E801-36C8-CE93DAB9263A}"/>
              </a:ext>
            </a:extLst>
          </p:cNvPr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4">
            <a:extLst>
              <a:ext uri="{FF2B5EF4-FFF2-40B4-BE49-F238E27FC236}">
                <a16:creationId xmlns:a16="http://schemas.microsoft.com/office/drawing/2014/main" id="{005F86D5-76AF-DD64-497B-62B8A18BECC9}"/>
              </a:ext>
            </a:extLst>
          </p:cNvPr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5">
            <a:extLst>
              <a:ext uri="{FF2B5EF4-FFF2-40B4-BE49-F238E27FC236}">
                <a16:creationId xmlns:a16="http://schemas.microsoft.com/office/drawing/2014/main" id="{6589FF77-7F8A-B031-82AC-6532F23E3EE0}"/>
              </a:ext>
            </a:extLst>
          </p:cNvPr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6">
            <a:extLst>
              <a:ext uri="{FF2B5EF4-FFF2-40B4-BE49-F238E27FC236}">
                <a16:creationId xmlns:a16="http://schemas.microsoft.com/office/drawing/2014/main" id="{DB22B0DF-3DEF-3227-EFDB-859B4066B0A0}"/>
              </a:ext>
            </a:extLst>
          </p:cNvPr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7">
            <a:extLst>
              <a:ext uri="{FF2B5EF4-FFF2-40B4-BE49-F238E27FC236}">
                <a16:creationId xmlns:a16="http://schemas.microsoft.com/office/drawing/2014/main" id="{C2266343-3DDF-CDE0-2E65-4BD70DA94B39}"/>
              </a:ext>
            </a:extLst>
          </p:cNvPr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8">
            <a:extLst>
              <a:ext uri="{FF2B5EF4-FFF2-40B4-BE49-F238E27FC236}">
                <a16:creationId xmlns:a16="http://schemas.microsoft.com/office/drawing/2014/main" id="{089C3579-BA9B-FC01-B3C5-63FC1A77324F}"/>
              </a:ext>
            </a:extLst>
          </p:cNvPr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9">
            <a:extLst>
              <a:ext uri="{FF2B5EF4-FFF2-40B4-BE49-F238E27FC236}">
                <a16:creationId xmlns:a16="http://schemas.microsoft.com/office/drawing/2014/main" id="{08DBEC7A-6AF9-FA38-AAEF-9DBEBBC95DEE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0">
            <a:extLst>
              <a:ext uri="{FF2B5EF4-FFF2-40B4-BE49-F238E27FC236}">
                <a16:creationId xmlns:a16="http://schemas.microsoft.com/office/drawing/2014/main" id="{15D4F7A3-62CE-2696-F61F-BAE81725766E}"/>
              </a:ext>
            </a:extLst>
          </p:cNvPr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1">
            <a:extLst>
              <a:ext uri="{FF2B5EF4-FFF2-40B4-BE49-F238E27FC236}">
                <a16:creationId xmlns:a16="http://schemas.microsoft.com/office/drawing/2014/main" id="{71D79AA7-9AED-8537-9178-8B91E45AB820}"/>
              </a:ext>
            </a:extLst>
          </p:cNvPr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2">
            <a:extLst>
              <a:ext uri="{FF2B5EF4-FFF2-40B4-BE49-F238E27FC236}">
                <a16:creationId xmlns:a16="http://schemas.microsoft.com/office/drawing/2014/main" id="{D12E7DEC-EA01-EDD6-6B97-3268601D147A}"/>
              </a:ext>
            </a:extLst>
          </p:cNvPr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13">
            <a:extLst>
              <a:ext uri="{FF2B5EF4-FFF2-40B4-BE49-F238E27FC236}">
                <a16:creationId xmlns:a16="http://schemas.microsoft.com/office/drawing/2014/main" id="{AFC3E678-FC00-9583-481E-980078FCA860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4">
            <a:extLst>
              <a:ext uri="{FF2B5EF4-FFF2-40B4-BE49-F238E27FC236}">
                <a16:creationId xmlns:a16="http://schemas.microsoft.com/office/drawing/2014/main" id="{7F38D202-5D9C-122F-3456-7DD2B6A398DF}"/>
              </a:ext>
            </a:extLst>
          </p:cNvPr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5">
            <a:extLst>
              <a:ext uri="{FF2B5EF4-FFF2-40B4-BE49-F238E27FC236}">
                <a16:creationId xmlns:a16="http://schemas.microsoft.com/office/drawing/2014/main" id="{7CF36DB3-543C-B027-BD18-FF63D0E062DD}"/>
              </a:ext>
            </a:extLst>
          </p:cNvPr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16">
            <a:extLst>
              <a:ext uri="{FF2B5EF4-FFF2-40B4-BE49-F238E27FC236}">
                <a16:creationId xmlns:a16="http://schemas.microsoft.com/office/drawing/2014/main" id="{1B4A1310-19EA-BB85-5351-B985A42039DF}"/>
              </a:ext>
            </a:extLst>
          </p:cNvPr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17">
            <a:extLst>
              <a:ext uri="{FF2B5EF4-FFF2-40B4-BE49-F238E27FC236}">
                <a16:creationId xmlns:a16="http://schemas.microsoft.com/office/drawing/2014/main" id="{B48A5B34-F56A-4B53-B50E-C4739F957EE8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18">
            <a:extLst>
              <a:ext uri="{FF2B5EF4-FFF2-40B4-BE49-F238E27FC236}">
                <a16:creationId xmlns:a16="http://schemas.microsoft.com/office/drawing/2014/main" id="{EB4FEE4C-69B6-982C-D930-0863C55D05B1}"/>
              </a:ext>
            </a:extLst>
          </p:cNvPr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19">
            <a:extLst>
              <a:ext uri="{FF2B5EF4-FFF2-40B4-BE49-F238E27FC236}">
                <a16:creationId xmlns:a16="http://schemas.microsoft.com/office/drawing/2014/main" id="{6C322E3A-4E4F-C9F8-2DAD-A406790A21BF}"/>
              </a:ext>
            </a:extLst>
          </p:cNvPr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20">
            <a:extLst>
              <a:ext uri="{FF2B5EF4-FFF2-40B4-BE49-F238E27FC236}">
                <a16:creationId xmlns:a16="http://schemas.microsoft.com/office/drawing/2014/main" id="{C98EA1E2-A030-0632-EAC5-4CBDC6963C2B}"/>
              </a:ext>
            </a:extLst>
          </p:cNvPr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21">
            <a:extLst>
              <a:ext uri="{FF2B5EF4-FFF2-40B4-BE49-F238E27FC236}">
                <a16:creationId xmlns:a16="http://schemas.microsoft.com/office/drawing/2014/main" id="{2F7E1675-D44F-49B3-6BA0-47BA62C0E3B2}"/>
              </a:ext>
            </a:extLst>
          </p:cNvPr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22">
            <a:extLst>
              <a:ext uri="{FF2B5EF4-FFF2-40B4-BE49-F238E27FC236}">
                <a16:creationId xmlns:a16="http://schemas.microsoft.com/office/drawing/2014/main" id="{7B87A9B3-A529-9020-158A-28060156D92E}"/>
              </a:ext>
            </a:extLst>
          </p:cNvPr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23">
            <a:extLst>
              <a:ext uri="{FF2B5EF4-FFF2-40B4-BE49-F238E27FC236}">
                <a16:creationId xmlns:a16="http://schemas.microsoft.com/office/drawing/2014/main" id="{E0913338-D251-94EA-FCAB-CE03826F8E46}"/>
              </a:ext>
            </a:extLst>
          </p:cNvPr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24">
            <a:extLst>
              <a:ext uri="{FF2B5EF4-FFF2-40B4-BE49-F238E27FC236}">
                <a16:creationId xmlns:a16="http://schemas.microsoft.com/office/drawing/2014/main" id="{C438904A-244B-45FD-E7FC-57F172C81507}"/>
              </a:ext>
            </a:extLst>
          </p:cNvPr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25">
            <a:extLst>
              <a:ext uri="{FF2B5EF4-FFF2-40B4-BE49-F238E27FC236}">
                <a16:creationId xmlns:a16="http://schemas.microsoft.com/office/drawing/2014/main" id="{AC09FD80-DA14-2F09-E717-A16ABB6C0C73}"/>
              </a:ext>
            </a:extLst>
          </p:cNvPr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26">
            <a:extLst>
              <a:ext uri="{FF2B5EF4-FFF2-40B4-BE49-F238E27FC236}">
                <a16:creationId xmlns:a16="http://schemas.microsoft.com/office/drawing/2014/main" id="{755099B6-DA8A-5ED9-CEA4-321AAEF017BA}"/>
              </a:ext>
            </a:extLst>
          </p:cNvPr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27">
            <a:extLst>
              <a:ext uri="{FF2B5EF4-FFF2-40B4-BE49-F238E27FC236}">
                <a16:creationId xmlns:a16="http://schemas.microsoft.com/office/drawing/2014/main" id="{FE0E1D21-0E65-2325-BC4B-558202C53DDD}"/>
              </a:ext>
            </a:extLst>
          </p:cNvPr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28">
            <a:extLst>
              <a:ext uri="{FF2B5EF4-FFF2-40B4-BE49-F238E27FC236}">
                <a16:creationId xmlns:a16="http://schemas.microsoft.com/office/drawing/2014/main" id="{7D645BFF-37F8-DDF7-BC58-A10DDC119E90}"/>
              </a:ext>
            </a:extLst>
          </p:cNvPr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BDFF8946-9153-C36F-3AFB-1FBF7518232C}"/>
              </a:ext>
            </a:extLst>
          </p:cNvPr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7C27E24-FAD6-16A2-17F2-471D8DB93244}"/>
              </a:ext>
            </a:extLst>
          </p:cNvPr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E9F2D73-30EC-21C9-0421-99BB00AE3493}"/>
              </a:ext>
            </a:extLst>
          </p:cNvPr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ANDROID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Android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438912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26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EspConnector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29184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Uses Android's WifiNetworkSpecifier API to connect to hotspot networks via Kotlin callbackFlow.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438912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UdpChat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Manages DatagramSocket on port 8888 for UdpPacket objects. Uses Coroutines &amp; MutableSharedFlow.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389120"/>
            <a:ext cx="438912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44805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029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MeshService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39496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Foreground Service staying alive in background. Orchestrates DB and state 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89120"/>
            <a:ext cx="438912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48056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🗄️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Room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9496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Persists MessageEntity records locally. UI observes via a Flow&lt;List&lt;MessageEntity&gt;&gt;.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78D2F54-306E-6CDE-3F1A-0C9C561F2818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4CE0B4-5522-BE64-FC73-E9041A6C2DBD}"/>
              </a:ext>
            </a:extLst>
          </p:cNvPr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Inter"/>
              </a:defRPr>
            </a:pPr>
            <a:r>
              <a:rPr dirty="0"/>
              <a:t>PEERLINK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F4D25F-EA4E-0D0C-6F86-3E3BAAF6122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solidFill>
              <a:srgbClr val="05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2">
            <a:extLst>
              <a:ext uri="{FF2B5EF4-FFF2-40B4-BE49-F238E27FC236}">
                <a16:creationId xmlns:a16="http://schemas.microsoft.com/office/drawing/2014/main" id="{7F525B95-AC22-C9F5-3D59-8FA767EE3A67}"/>
              </a:ext>
            </a:extLst>
          </p:cNvPr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3">
            <a:extLst>
              <a:ext uri="{FF2B5EF4-FFF2-40B4-BE49-F238E27FC236}">
                <a16:creationId xmlns:a16="http://schemas.microsoft.com/office/drawing/2014/main" id="{C676BF5E-028F-158A-B3D5-89488BE96207}"/>
              </a:ext>
            </a:extLst>
          </p:cNvPr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">
            <a:extLst>
              <a:ext uri="{FF2B5EF4-FFF2-40B4-BE49-F238E27FC236}">
                <a16:creationId xmlns:a16="http://schemas.microsoft.com/office/drawing/2014/main" id="{01B59AE6-BC17-175F-E485-BF70063FC980}"/>
              </a:ext>
            </a:extLst>
          </p:cNvPr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">
            <a:extLst>
              <a:ext uri="{FF2B5EF4-FFF2-40B4-BE49-F238E27FC236}">
                <a16:creationId xmlns:a16="http://schemas.microsoft.com/office/drawing/2014/main" id="{C5B06D2F-00F2-282B-7EDE-E72265C6CFC8}"/>
              </a:ext>
            </a:extLst>
          </p:cNvPr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6">
            <a:extLst>
              <a:ext uri="{FF2B5EF4-FFF2-40B4-BE49-F238E27FC236}">
                <a16:creationId xmlns:a16="http://schemas.microsoft.com/office/drawing/2014/main" id="{9426C1D9-49EF-0B29-6F32-B9E02235F9D4}"/>
              </a:ext>
            </a:extLst>
          </p:cNvPr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7">
            <a:extLst>
              <a:ext uri="{FF2B5EF4-FFF2-40B4-BE49-F238E27FC236}">
                <a16:creationId xmlns:a16="http://schemas.microsoft.com/office/drawing/2014/main" id="{FFFB7E85-53C3-C7B4-1AC3-2E35DCDA39F8}"/>
              </a:ext>
            </a:extLst>
          </p:cNvPr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8">
            <a:extLst>
              <a:ext uri="{FF2B5EF4-FFF2-40B4-BE49-F238E27FC236}">
                <a16:creationId xmlns:a16="http://schemas.microsoft.com/office/drawing/2014/main" id="{DB1A2E37-CDFB-349E-17C8-4C274D8B6B96}"/>
              </a:ext>
            </a:extLst>
          </p:cNvPr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9">
            <a:extLst>
              <a:ext uri="{FF2B5EF4-FFF2-40B4-BE49-F238E27FC236}">
                <a16:creationId xmlns:a16="http://schemas.microsoft.com/office/drawing/2014/main" id="{344D898C-CA33-4CF5-5866-9DBC6FEE5507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10">
            <a:extLst>
              <a:ext uri="{FF2B5EF4-FFF2-40B4-BE49-F238E27FC236}">
                <a16:creationId xmlns:a16="http://schemas.microsoft.com/office/drawing/2014/main" id="{85B685D4-A7AE-C436-0B87-4B7FA50A454D}"/>
              </a:ext>
            </a:extLst>
          </p:cNvPr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11">
            <a:extLst>
              <a:ext uri="{FF2B5EF4-FFF2-40B4-BE49-F238E27FC236}">
                <a16:creationId xmlns:a16="http://schemas.microsoft.com/office/drawing/2014/main" id="{199A5C02-63E8-D59D-3FDD-67C35138C3C8}"/>
              </a:ext>
            </a:extLst>
          </p:cNvPr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12">
            <a:extLst>
              <a:ext uri="{FF2B5EF4-FFF2-40B4-BE49-F238E27FC236}">
                <a16:creationId xmlns:a16="http://schemas.microsoft.com/office/drawing/2014/main" id="{3A0EAC56-7875-6A17-843B-63E6FEE59CFD}"/>
              </a:ext>
            </a:extLst>
          </p:cNvPr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13">
            <a:extLst>
              <a:ext uri="{FF2B5EF4-FFF2-40B4-BE49-F238E27FC236}">
                <a16:creationId xmlns:a16="http://schemas.microsoft.com/office/drawing/2014/main" id="{6CA3726A-BDBE-75D1-6EF9-92827E072325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14">
            <a:extLst>
              <a:ext uri="{FF2B5EF4-FFF2-40B4-BE49-F238E27FC236}">
                <a16:creationId xmlns:a16="http://schemas.microsoft.com/office/drawing/2014/main" id="{75A693D1-A7AD-EA06-9672-FFA0E93D81E5}"/>
              </a:ext>
            </a:extLst>
          </p:cNvPr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15">
            <a:extLst>
              <a:ext uri="{FF2B5EF4-FFF2-40B4-BE49-F238E27FC236}">
                <a16:creationId xmlns:a16="http://schemas.microsoft.com/office/drawing/2014/main" id="{E74F2AB1-78C0-2F81-D256-F8F785CEFEE9}"/>
              </a:ext>
            </a:extLst>
          </p:cNvPr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16">
            <a:extLst>
              <a:ext uri="{FF2B5EF4-FFF2-40B4-BE49-F238E27FC236}">
                <a16:creationId xmlns:a16="http://schemas.microsoft.com/office/drawing/2014/main" id="{89A84CC1-D669-714B-7C4D-2A6639E810F4}"/>
              </a:ext>
            </a:extLst>
          </p:cNvPr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17">
            <a:extLst>
              <a:ext uri="{FF2B5EF4-FFF2-40B4-BE49-F238E27FC236}">
                <a16:creationId xmlns:a16="http://schemas.microsoft.com/office/drawing/2014/main" id="{CAD4B39A-841F-7764-7547-9E69DDD15559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18">
            <a:extLst>
              <a:ext uri="{FF2B5EF4-FFF2-40B4-BE49-F238E27FC236}">
                <a16:creationId xmlns:a16="http://schemas.microsoft.com/office/drawing/2014/main" id="{85752120-0459-9A09-6304-33FF5B0CCB31}"/>
              </a:ext>
            </a:extLst>
          </p:cNvPr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19">
            <a:extLst>
              <a:ext uri="{FF2B5EF4-FFF2-40B4-BE49-F238E27FC236}">
                <a16:creationId xmlns:a16="http://schemas.microsoft.com/office/drawing/2014/main" id="{1B272681-63B4-5F9E-C5C5-2337BA31DCAE}"/>
              </a:ext>
            </a:extLst>
          </p:cNvPr>
          <p:cNvCxnSpPr/>
          <p:nvPr/>
        </p:nvCxnSpPr>
        <p:spPr>
          <a:xfrm>
            <a:off x="30632" y="685799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20">
            <a:extLst>
              <a:ext uri="{FF2B5EF4-FFF2-40B4-BE49-F238E27FC236}">
                <a16:creationId xmlns:a16="http://schemas.microsoft.com/office/drawing/2014/main" id="{193D1609-F0EC-CA0A-E5CA-36EAF663801B}"/>
              </a:ext>
            </a:extLst>
          </p:cNvPr>
          <p:cNvCxnSpPr/>
          <p:nvPr/>
        </p:nvCxnSpPr>
        <p:spPr>
          <a:xfrm>
            <a:off x="30632" y="1386347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21">
            <a:extLst>
              <a:ext uri="{FF2B5EF4-FFF2-40B4-BE49-F238E27FC236}">
                <a16:creationId xmlns:a16="http://schemas.microsoft.com/office/drawing/2014/main" id="{1F88518D-5747-50F0-368F-82D2F9F97498}"/>
              </a:ext>
            </a:extLst>
          </p:cNvPr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22">
            <a:extLst>
              <a:ext uri="{FF2B5EF4-FFF2-40B4-BE49-F238E27FC236}">
                <a16:creationId xmlns:a16="http://schemas.microsoft.com/office/drawing/2014/main" id="{A2FC0B1D-6478-4B03-3D01-1E1DA2DEFDE3}"/>
              </a:ext>
            </a:extLst>
          </p:cNvPr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23">
            <a:extLst>
              <a:ext uri="{FF2B5EF4-FFF2-40B4-BE49-F238E27FC236}">
                <a16:creationId xmlns:a16="http://schemas.microsoft.com/office/drawing/2014/main" id="{8AD52637-5EB8-E57C-B2CC-0EAC8A507F2E}"/>
              </a:ext>
            </a:extLst>
          </p:cNvPr>
          <p:cNvCxnSpPr/>
          <p:nvPr/>
        </p:nvCxnSpPr>
        <p:spPr>
          <a:xfrm>
            <a:off x="305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24">
            <a:extLst>
              <a:ext uri="{FF2B5EF4-FFF2-40B4-BE49-F238E27FC236}">
                <a16:creationId xmlns:a16="http://schemas.microsoft.com/office/drawing/2014/main" id="{9F8B2AEF-71E5-F76F-E643-5BB4AB9688C3}"/>
              </a:ext>
            </a:extLst>
          </p:cNvPr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25">
            <a:extLst>
              <a:ext uri="{FF2B5EF4-FFF2-40B4-BE49-F238E27FC236}">
                <a16:creationId xmlns:a16="http://schemas.microsoft.com/office/drawing/2014/main" id="{A64E3FE8-51A8-BFBB-6122-1346AC3A05F7}"/>
              </a:ext>
            </a:extLst>
          </p:cNvPr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26">
            <a:extLst>
              <a:ext uri="{FF2B5EF4-FFF2-40B4-BE49-F238E27FC236}">
                <a16:creationId xmlns:a16="http://schemas.microsoft.com/office/drawing/2014/main" id="{B5B3A210-7B77-0D53-08A6-5DCE0C7F413C}"/>
              </a:ext>
            </a:extLst>
          </p:cNvPr>
          <p:cNvCxnSpPr/>
          <p:nvPr/>
        </p:nvCxnSpPr>
        <p:spPr>
          <a:xfrm>
            <a:off x="30632" y="5506065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27">
            <a:extLst>
              <a:ext uri="{FF2B5EF4-FFF2-40B4-BE49-F238E27FC236}">
                <a16:creationId xmlns:a16="http://schemas.microsoft.com/office/drawing/2014/main" id="{D5AEA37A-7B14-7516-0E30-1B208EC9E02B}"/>
              </a:ext>
            </a:extLst>
          </p:cNvPr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28">
            <a:extLst>
              <a:ext uri="{FF2B5EF4-FFF2-40B4-BE49-F238E27FC236}">
                <a16:creationId xmlns:a16="http://schemas.microsoft.com/office/drawing/2014/main" id="{8C465912-56B3-7078-7BF6-E166631AF1CF}"/>
              </a:ext>
            </a:extLst>
          </p:cNvPr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E730629B-4E49-4B52-921C-22EEC738D3A0}"/>
              </a:ext>
            </a:extLst>
          </p:cNvPr>
          <p:cNvSpPr/>
          <p:nvPr/>
        </p:nvSpPr>
        <p:spPr>
          <a:xfrm>
            <a:off x="457200" y="466343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A823CA2-E335-A601-4A60-28A6A8C1C1A9}"/>
              </a:ext>
            </a:extLst>
          </p:cNvPr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CAE3D47-6C15-B762-6C7C-9BBCCA0BFB3B}"/>
              </a:ext>
            </a:extLst>
          </p:cNvPr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94EA88A-C37D-940F-E829-A8D98C0A6CE8}"/>
              </a:ext>
            </a:extLst>
          </p:cNvPr>
          <p:cNvSpPr/>
          <p:nvPr/>
        </p:nvSpPr>
        <p:spPr>
          <a:xfrm>
            <a:off x="457200" y="466343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F27D3E4-E517-97A7-D9DD-E16ADBF2BD70}"/>
              </a:ext>
            </a:extLst>
          </p:cNvPr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App Screen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01168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Splash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Brand intro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011680"/>
            <a:ext cx="201168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4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Permission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Wi-Fi, 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011680"/>
            <a:ext cx="201168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Connecting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011680"/>
            <a:ext cx="201168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Device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Shows peers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2011680"/>
            <a:ext cx="2011680" cy="1371600"/>
          </a:xfrm>
          <a:prstGeom prst="roundRect">
            <a:avLst/>
          </a:prstGeom>
          <a:solidFill>
            <a:srgbClr val="0A142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6696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Arial"/>
              </a:defRPr>
            </a:pPr>
            <a:r>
              <a:t>Chat Screen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4B4"/>
                </a:solidFill>
                <a:latin typeface="Arial"/>
              </a:defRPr>
            </a:pPr>
            <a:r>
              <a:t>Messaging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4114800"/>
            <a:ext cx="2926080" cy="164592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54480" y="4206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5448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Jetpack Compose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120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Declarative UI with Material 3, reactive state.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4114800"/>
            <a:ext cx="2926080" cy="164592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4206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488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Navigation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120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Type-safe navigation with NavHost.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114800"/>
            <a:ext cx="2926080" cy="164592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80" y="4206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5528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Dark Theme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5120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Black background with white bubbles.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BD19AFB-986A-02E8-B8FD-D405FA64BDFA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2">
            <a:extLst>
              <a:ext uri="{FF2B5EF4-FFF2-40B4-BE49-F238E27FC236}">
                <a16:creationId xmlns:a16="http://schemas.microsoft.com/office/drawing/2014/main" id="{6029F23A-B315-5AC7-45ED-ABBB51B0899E}"/>
              </a:ext>
            </a:extLst>
          </p:cNvPr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3">
            <a:extLst>
              <a:ext uri="{FF2B5EF4-FFF2-40B4-BE49-F238E27FC236}">
                <a16:creationId xmlns:a16="http://schemas.microsoft.com/office/drawing/2014/main" id="{BFBE074D-19B6-8CA0-966B-B1CA2B858D5C}"/>
              </a:ext>
            </a:extLst>
          </p:cNvPr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4">
            <a:extLst>
              <a:ext uri="{FF2B5EF4-FFF2-40B4-BE49-F238E27FC236}">
                <a16:creationId xmlns:a16="http://schemas.microsoft.com/office/drawing/2014/main" id="{BFCD410A-D60A-6CFD-1412-DB85F917EC40}"/>
              </a:ext>
            </a:extLst>
          </p:cNvPr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5">
            <a:extLst>
              <a:ext uri="{FF2B5EF4-FFF2-40B4-BE49-F238E27FC236}">
                <a16:creationId xmlns:a16="http://schemas.microsoft.com/office/drawing/2014/main" id="{0ECE6FD1-304E-A0DB-CCD5-ADA993AE1CDE}"/>
              </a:ext>
            </a:extLst>
          </p:cNvPr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6">
            <a:extLst>
              <a:ext uri="{FF2B5EF4-FFF2-40B4-BE49-F238E27FC236}">
                <a16:creationId xmlns:a16="http://schemas.microsoft.com/office/drawing/2014/main" id="{4CB21237-2A16-D7FC-CEBE-BC01DACEB344}"/>
              </a:ext>
            </a:extLst>
          </p:cNvPr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7">
            <a:extLst>
              <a:ext uri="{FF2B5EF4-FFF2-40B4-BE49-F238E27FC236}">
                <a16:creationId xmlns:a16="http://schemas.microsoft.com/office/drawing/2014/main" id="{79D6C35F-C164-8B0F-09B9-BFF60EFDFC70}"/>
              </a:ext>
            </a:extLst>
          </p:cNvPr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8">
            <a:extLst>
              <a:ext uri="{FF2B5EF4-FFF2-40B4-BE49-F238E27FC236}">
                <a16:creationId xmlns:a16="http://schemas.microsoft.com/office/drawing/2014/main" id="{CA680F6C-0BB8-0F22-1D47-AD2E381A5D75}"/>
              </a:ext>
            </a:extLst>
          </p:cNvPr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9">
            <a:extLst>
              <a:ext uri="{FF2B5EF4-FFF2-40B4-BE49-F238E27FC236}">
                <a16:creationId xmlns:a16="http://schemas.microsoft.com/office/drawing/2014/main" id="{A7B83E81-4FDC-AC8A-5D1B-3F1DE5FF6A03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10">
            <a:extLst>
              <a:ext uri="{FF2B5EF4-FFF2-40B4-BE49-F238E27FC236}">
                <a16:creationId xmlns:a16="http://schemas.microsoft.com/office/drawing/2014/main" id="{AA8AC7A0-7330-7B9C-C908-F8D96B46DFBF}"/>
              </a:ext>
            </a:extLst>
          </p:cNvPr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11">
            <a:extLst>
              <a:ext uri="{FF2B5EF4-FFF2-40B4-BE49-F238E27FC236}">
                <a16:creationId xmlns:a16="http://schemas.microsoft.com/office/drawing/2014/main" id="{A40588E3-7AF9-6F8A-6424-EB634D55B142}"/>
              </a:ext>
            </a:extLst>
          </p:cNvPr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2">
            <a:extLst>
              <a:ext uri="{FF2B5EF4-FFF2-40B4-BE49-F238E27FC236}">
                <a16:creationId xmlns:a16="http://schemas.microsoft.com/office/drawing/2014/main" id="{02663777-0EC3-4A74-313E-43E9A5C01022}"/>
              </a:ext>
            </a:extLst>
          </p:cNvPr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13">
            <a:extLst>
              <a:ext uri="{FF2B5EF4-FFF2-40B4-BE49-F238E27FC236}">
                <a16:creationId xmlns:a16="http://schemas.microsoft.com/office/drawing/2014/main" id="{53722A04-1849-4011-DD0D-2BE6C87C2D0F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14">
            <a:extLst>
              <a:ext uri="{FF2B5EF4-FFF2-40B4-BE49-F238E27FC236}">
                <a16:creationId xmlns:a16="http://schemas.microsoft.com/office/drawing/2014/main" id="{C2AFABCE-5293-8993-3587-42D06C7F804D}"/>
              </a:ext>
            </a:extLst>
          </p:cNvPr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15">
            <a:extLst>
              <a:ext uri="{FF2B5EF4-FFF2-40B4-BE49-F238E27FC236}">
                <a16:creationId xmlns:a16="http://schemas.microsoft.com/office/drawing/2014/main" id="{4438B840-68EC-C1CC-B37B-F03D48F566BB}"/>
              </a:ext>
            </a:extLst>
          </p:cNvPr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16">
            <a:extLst>
              <a:ext uri="{FF2B5EF4-FFF2-40B4-BE49-F238E27FC236}">
                <a16:creationId xmlns:a16="http://schemas.microsoft.com/office/drawing/2014/main" id="{581BCD8D-74B3-008C-712A-FB73EC3059E7}"/>
              </a:ext>
            </a:extLst>
          </p:cNvPr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17">
            <a:extLst>
              <a:ext uri="{FF2B5EF4-FFF2-40B4-BE49-F238E27FC236}">
                <a16:creationId xmlns:a16="http://schemas.microsoft.com/office/drawing/2014/main" id="{6CB70375-27BE-A2EC-1302-76C1EDFB5DAA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8">
            <a:extLst>
              <a:ext uri="{FF2B5EF4-FFF2-40B4-BE49-F238E27FC236}">
                <a16:creationId xmlns:a16="http://schemas.microsoft.com/office/drawing/2014/main" id="{DC562A3C-B66D-AAFA-A6A8-6D4A6036525B}"/>
              </a:ext>
            </a:extLst>
          </p:cNvPr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9">
            <a:extLst>
              <a:ext uri="{FF2B5EF4-FFF2-40B4-BE49-F238E27FC236}">
                <a16:creationId xmlns:a16="http://schemas.microsoft.com/office/drawing/2014/main" id="{163071B2-3F54-9060-0A53-4CB339F2D129}"/>
              </a:ext>
            </a:extLst>
          </p:cNvPr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20">
            <a:extLst>
              <a:ext uri="{FF2B5EF4-FFF2-40B4-BE49-F238E27FC236}">
                <a16:creationId xmlns:a16="http://schemas.microsoft.com/office/drawing/2014/main" id="{A079D552-E364-D8FA-9F46-8517B2144D2E}"/>
              </a:ext>
            </a:extLst>
          </p:cNvPr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21">
            <a:extLst>
              <a:ext uri="{FF2B5EF4-FFF2-40B4-BE49-F238E27FC236}">
                <a16:creationId xmlns:a16="http://schemas.microsoft.com/office/drawing/2014/main" id="{3D17028A-0940-3CA5-3037-8417833B04EB}"/>
              </a:ext>
            </a:extLst>
          </p:cNvPr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22">
            <a:extLst>
              <a:ext uri="{FF2B5EF4-FFF2-40B4-BE49-F238E27FC236}">
                <a16:creationId xmlns:a16="http://schemas.microsoft.com/office/drawing/2014/main" id="{0DE64A3E-ED03-60B3-0FDF-536986800FAD}"/>
              </a:ext>
            </a:extLst>
          </p:cNvPr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23">
            <a:extLst>
              <a:ext uri="{FF2B5EF4-FFF2-40B4-BE49-F238E27FC236}">
                <a16:creationId xmlns:a16="http://schemas.microsoft.com/office/drawing/2014/main" id="{71CB5191-BC4A-8815-D3D7-17064747DBBA}"/>
              </a:ext>
            </a:extLst>
          </p:cNvPr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24">
            <a:extLst>
              <a:ext uri="{FF2B5EF4-FFF2-40B4-BE49-F238E27FC236}">
                <a16:creationId xmlns:a16="http://schemas.microsoft.com/office/drawing/2014/main" id="{C13C021D-3194-A4C0-C7E2-D2C16AE1731F}"/>
              </a:ext>
            </a:extLst>
          </p:cNvPr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25">
            <a:extLst>
              <a:ext uri="{FF2B5EF4-FFF2-40B4-BE49-F238E27FC236}">
                <a16:creationId xmlns:a16="http://schemas.microsoft.com/office/drawing/2014/main" id="{968F6A1B-87C7-06E4-A62B-C849DE053ABA}"/>
              </a:ext>
            </a:extLst>
          </p:cNvPr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26">
            <a:extLst>
              <a:ext uri="{FF2B5EF4-FFF2-40B4-BE49-F238E27FC236}">
                <a16:creationId xmlns:a16="http://schemas.microsoft.com/office/drawing/2014/main" id="{8175064F-83F3-597B-85B0-DACB1DAB3658}"/>
              </a:ext>
            </a:extLst>
          </p:cNvPr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27">
            <a:extLst>
              <a:ext uri="{FF2B5EF4-FFF2-40B4-BE49-F238E27FC236}">
                <a16:creationId xmlns:a16="http://schemas.microsoft.com/office/drawing/2014/main" id="{E59A6C53-88FE-F264-7AB3-99BCEDE7C825}"/>
              </a:ext>
            </a:extLst>
          </p:cNvPr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28">
            <a:extLst>
              <a:ext uri="{FF2B5EF4-FFF2-40B4-BE49-F238E27FC236}">
                <a16:creationId xmlns:a16="http://schemas.microsoft.com/office/drawing/2014/main" id="{B0D3E8B6-1741-045A-F02A-5E2485E32AF9}"/>
              </a:ext>
            </a:extLst>
          </p:cNvPr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99F37FE6-1DF6-5617-1F3B-F62C8A4D8F25}"/>
              </a:ext>
            </a:extLst>
          </p:cNvPr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4B85687-B232-67CE-337D-A716FECACE0C}"/>
              </a:ext>
            </a:extLst>
          </p:cNvPr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1F7BCCC-B9B0-B51E-5005-365609F7B2F6}"/>
              </a:ext>
            </a:extLst>
          </p:cNvPr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Message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9418320" cy="3200400"/>
          </a:xfrm>
          <a:prstGeom prst="roundRect">
            <a:avLst/>
          </a:prstGeom>
          <a:solidFill>
            <a:srgbClr val="000000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2468880"/>
            <a:ext cx="9052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4"/>
                </a:solidFill>
                <a:latin typeface="Courier New"/>
              </a:defRPr>
            </a:pPr>
            <a:r>
              <a:rPr dirty="0"/>
              <a:t>// 1. User taps Send → </a:t>
            </a:r>
            <a:r>
              <a:rPr dirty="0" err="1"/>
              <a:t>ViewModel</a:t>
            </a:r>
            <a:r>
              <a:rPr dirty="0"/>
              <a:t> → </a:t>
            </a:r>
            <a:r>
              <a:rPr dirty="0" err="1"/>
              <a:t>MeshService</a:t>
            </a:r>
            <a:br>
              <a:rPr dirty="0"/>
            </a:br>
            <a:r>
              <a:rPr dirty="0"/>
              <a:t>fun </a:t>
            </a:r>
            <a:r>
              <a:rPr dirty="0" err="1"/>
              <a:t>sendMessage</a:t>
            </a:r>
            <a:r>
              <a:rPr dirty="0"/>
              <a:t>(</a:t>
            </a:r>
            <a:r>
              <a:rPr dirty="0" err="1"/>
              <a:t>toPeerId</a:t>
            </a:r>
            <a:r>
              <a:rPr dirty="0"/>
              <a:t>: String, content: String) {</a:t>
            </a:r>
            <a:br>
              <a:rPr dirty="0"/>
            </a:br>
            <a:r>
              <a:rPr dirty="0"/>
              <a:t>    </a:t>
            </a:r>
            <a:r>
              <a:rPr dirty="0" err="1"/>
              <a:t>val</a:t>
            </a:r>
            <a:r>
              <a:rPr dirty="0"/>
              <a:t> packet = </a:t>
            </a:r>
            <a:r>
              <a:rPr dirty="0" err="1"/>
              <a:t>UdpPacket</a:t>
            </a:r>
            <a:r>
              <a:rPr dirty="0"/>
              <a:t>(type="chat", from=</a:t>
            </a:r>
            <a:r>
              <a:rPr dirty="0" err="1"/>
              <a:t>myDeviceId</a:t>
            </a:r>
            <a:r>
              <a:rPr dirty="0"/>
              <a:t>, to=</a:t>
            </a:r>
            <a:r>
              <a:rPr dirty="0" err="1"/>
              <a:t>toPeerId</a:t>
            </a:r>
            <a:r>
              <a:rPr dirty="0"/>
              <a:t>, payload=content)</a:t>
            </a:r>
            <a:br>
              <a:rPr dirty="0"/>
            </a:br>
            <a:r>
              <a:rPr dirty="0"/>
              <a:t>    </a:t>
            </a:r>
            <a:r>
              <a:rPr dirty="0" err="1"/>
              <a:t>database.messageDao</a:t>
            </a:r>
            <a:r>
              <a:rPr dirty="0"/>
              <a:t>().</a:t>
            </a:r>
            <a:r>
              <a:rPr dirty="0" err="1"/>
              <a:t>insertMessage</a:t>
            </a:r>
            <a:r>
              <a:rPr dirty="0"/>
              <a:t>(</a:t>
            </a:r>
            <a:r>
              <a:rPr dirty="0" err="1"/>
              <a:t>localMsg</a:t>
            </a:r>
            <a:r>
              <a:rPr dirty="0"/>
              <a:t>)  // Save locally first</a:t>
            </a:r>
            <a:br>
              <a:rPr dirty="0"/>
            </a:br>
            <a:r>
              <a:rPr dirty="0"/>
              <a:t>    </a:t>
            </a:r>
            <a:r>
              <a:rPr dirty="0" err="1"/>
              <a:t>udpChat.sendMessage</a:t>
            </a:r>
            <a:r>
              <a:rPr dirty="0"/>
              <a:t>(packet)               // Send over UDP → ESP32 router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// 2. ESP32 receives packet → looks up target device IP → forwards</a:t>
            </a:r>
            <a:br>
              <a:rPr dirty="0"/>
            </a:br>
            <a:r>
              <a:rPr dirty="0"/>
              <a:t>// 3. Receiver's </a:t>
            </a:r>
            <a:r>
              <a:rPr dirty="0" err="1"/>
              <a:t>UdpChat</a:t>
            </a:r>
            <a:r>
              <a:rPr dirty="0"/>
              <a:t> emits via </a:t>
            </a:r>
            <a:r>
              <a:rPr dirty="0" err="1"/>
              <a:t>SharedFlow</a:t>
            </a:r>
            <a:r>
              <a:rPr dirty="0"/>
              <a:t> → </a:t>
            </a:r>
            <a:r>
              <a:rPr dirty="0" err="1"/>
              <a:t>MeshService</a:t>
            </a:r>
            <a:r>
              <a:rPr dirty="0"/>
              <a:t> handles</a:t>
            </a:r>
            <a:br>
              <a:rPr dirty="0"/>
            </a:br>
            <a:r>
              <a:rPr dirty="0"/>
              <a:t>when (</a:t>
            </a:r>
            <a:r>
              <a:rPr dirty="0" err="1"/>
              <a:t>packet.type</a:t>
            </a:r>
            <a:r>
              <a:rPr dirty="0"/>
              <a:t>) {</a:t>
            </a:r>
            <a:br>
              <a:rPr dirty="0"/>
            </a:br>
            <a:r>
              <a:rPr dirty="0"/>
              <a:t>    "chat" -&gt; </a:t>
            </a:r>
            <a:r>
              <a:rPr dirty="0" err="1"/>
              <a:t>database.messageDao</a:t>
            </a:r>
            <a:r>
              <a:rPr dirty="0"/>
              <a:t>().</a:t>
            </a:r>
            <a:r>
              <a:rPr dirty="0" err="1"/>
              <a:t>insertMessage</a:t>
            </a:r>
            <a:r>
              <a:rPr dirty="0"/>
              <a:t>(</a:t>
            </a:r>
            <a:r>
              <a:rPr dirty="0" err="1"/>
              <a:t>incomingMsg</a:t>
            </a:r>
            <a:r>
              <a:rPr dirty="0"/>
              <a:t>)</a:t>
            </a:r>
            <a:br>
              <a:rPr dirty="0"/>
            </a:br>
            <a:r>
              <a:rPr dirty="0"/>
              <a:t>    "</a:t>
            </a:r>
            <a:r>
              <a:rPr dirty="0" err="1"/>
              <a:t>clients_list</a:t>
            </a:r>
            <a:r>
              <a:rPr dirty="0"/>
              <a:t>" -&gt; _</a:t>
            </a:r>
            <a:r>
              <a:rPr dirty="0" err="1"/>
              <a:t>serviceState.update</a:t>
            </a:r>
            <a:r>
              <a:rPr dirty="0"/>
              <a:t> { </a:t>
            </a:r>
            <a:r>
              <a:rPr dirty="0" err="1"/>
              <a:t>it.copy</a:t>
            </a:r>
            <a:r>
              <a:rPr dirty="0"/>
              <a:t>(peers = </a:t>
            </a:r>
            <a:r>
              <a:rPr dirty="0" err="1"/>
              <a:t>parsedPeers</a:t>
            </a:r>
            <a:r>
              <a:rPr dirty="0"/>
              <a:t>) }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r>
              <a:rPr dirty="0"/>
              <a:t>// 4. Room DB change → Flow emits → Compose UI auto-recomposes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7607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5806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Coroutines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57607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5806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StateFlow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5760720"/>
            <a:ext cx="1371600" cy="365760"/>
          </a:xfrm>
          <a:prstGeom prst="roundRect">
            <a:avLst/>
          </a:prstGeom>
          <a:solidFill>
            <a:srgbClr val="050A14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5806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Room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AB8C697-91F3-A247-BB25-9467788F341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2">
            <a:extLst>
              <a:ext uri="{FF2B5EF4-FFF2-40B4-BE49-F238E27FC236}">
                <a16:creationId xmlns:a16="http://schemas.microsoft.com/office/drawing/2014/main" id="{8B827965-6AF3-3C2C-283D-495AEEA8077C}"/>
              </a:ext>
            </a:extLst>
          </p:cNvPr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">
            <a:extLst>
              <a:ext uri="{FF2B5EF4-FFF2-40B4-BE49-F238E27FC236}">
                <a16:creationId xmlns:a16="http://schemas.microsoft.com/office/drawing/2014/main" id="{86465503-FF82-C834-AA6C-A2596B7C3BA4}"/>
              </a:ext>
            </a:extLst>
          </p:cNvPr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">
            <a:extLst>
              <a:ext uri="{FF2B5EF4-FFF2-40B4-BE49-F238E27FC236}">
                <a16:creationId xmlns:a16="http://schemas.microsoft.com/office/drawing/2014/main" id="{B261F555-8DA9-AA77-B5B2-704776EF0FB4}"/>
              </a:ext>
            </a:extLst>
          </p:cNvPr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5">
            <a:extLst>
              <a:ext uri="{FF2B5EF4-FFF2-40B4-BE49-F238E27FC236}">
                <a16:creationId xmlns:a16="http://schemas.microsoft.com/office/drawing/2014/main" id="{6F32B5E1-0C4E-F45D-2268-664F703DD36D}"/>
              </a:ext>
            </a:extLst>
          </p:cNvPr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6">
            <a:extLst>
              <a:ext uri="{FF2B5EF4-FFF2-40B4-BE49-F238E27FC236}">
                <a16:creationId xmlns:a16="http://schemas.microsoft.com/office/drawing/2014/main" id="{0476AFC8-4686-E121-45FA-8E004A7C19C6}"/>
              </a:ext>
            </a:extLst>
          </p:cNvPr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7">
            <a:extLst>
              <a:ext uri="{FF2B5EF4-FFF2-40B4-BE49-F238E27FC236}">
                <a16:creationId xmlns:a16="http://schemas.microsoft.com/office/drawing/2014/main" id="{7B78F41B-A4DA-89AE-FBD9-EAD6C16B7767}"/>
              </a:ext>
            </a:extLst>
          </p:cNvPr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8">
            <a:extLst>
              <a:ext uri="{FF2B5EF4-FFF2-40B4-BE49-F238E27FC236}">
                <a16:creationId xmlns:a16="http://schemas.microsoft.com/office/drawing/2014/main" id="{FC94A097-EDF6-4D63-90D1-190CE4DA4566}"/>
              </a:ext>
            </a:extLst>
          </p:cNvPr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9">
            <a:extLst>
              <a:ext uri="{FF2B5EF4-FFF2-40B4-BE49-F238E27FC236}">
                <a16:creationId xmlns:a16="http://schemas.microsoft.com/office/drawing/2014/main" id="{8EE216B3-FA8A-BB76-E6E6-3F05A927D9D6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0">
            <a:extLst>
              <a:ext uri="{FF2B5EF4-FFF2-40B4-BE49-F238E27FC236}">
                <a16:creationId xmlns:a16="http://schemas.microsoft.com/office/drawing/2014/main" id="{B99F613D-611E-4798-9BAC-A65C4806B7D2}"/>
              </a:ext>
            </a:extLst>
          </p:cNvPr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11">
            <a:extLst>
              <a:ext uri="{FF2B5EF4-FFF2-40B4-BE49-F238E27FC236}">
                <a16:creationId xmlns:a16="http://schemas.microsoft.com/office/drawing/2014/main" id="{FA128ECF-8FAE-620B-25A9-03F72BA3A3AE}"/>
              </a:ext>
            </a:extLst>
          </p:cNvPr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12">
            <a:extLst>
              <a:ext uri="{FF2B5EF4-FFF2-40B4-BE49-F238E27FC236}">
                <a16:creationId xmlns:a16="http://schemas.microsoft.com/office/drawing/2014/main" id="{96CE8C8A-ED75-F6E8-56C1-89468B676D5E}"/>
              </a:ext>
            </a:extLst>
          </p:cNvPr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13">
            <a:extLst>
              <a:ext uri="{FF2B5EF4-FFF2-40B4-BE49-F238E27FC236}">
                <a16:creationId xmlns:a16="http://schemas.microsoft.com/office/drawing/2014/main" id="{76E2A2B1-68AE-AF62-1FC8-7DEF74845F05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14">
            <a:extLst>
              <a:ext uri="{FF2B5EF4-FFF2-40B4-BE49-F238E27FC236}">
                <a16:creationId xmlns:a16="http://schemas.microsoft.com/office/drawing/2014/main" id="{5CA10FF7-DE22-1AA0-742A-F3280A70B78F}"/>
              </a:ext>
            </a:extLst>
          </p:cNvPr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5">
            <a:extLst>
              <a:ext uri="{FF2B5EF4-FFF2-40B4-BE49-F238E27FC236}">
                <a16:creationId xmlns:a16="http://schemas.microsoft.com/office/drawing/2014/main" id="{9F4CA357-B4AE-2BA0-0B9D-9AC84B0727C5}"/>
              </a:ext>
            </a:extLst>
          </p:cNvPr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6">
            <a:extLst>
              <a:ext uri="{FF2B5EF4-FFF2-40B4-BE49-F238E27FC236}">
                <a16:creationId xmlns:a16="http://schemas.microsoft.com/office/drawing/2014/main" id="{A156B5F3-213C-504E-81FC-9805FCCEBB84}"/>
              </a:ext>
            </a:extLst>
          </p:cNvPr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17">
            <a:extLst>
              <a:ext uri="{FF2B5EF4-FFF2-40B4-BE49-F238E27FC236}">
                <a16:creationId xmlns:a16="http://schemas.microsoft.com/office/drawing/2014/main" id="{5A213815-C528-80B0-9507-6276ACC2410F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18">
            <a:extLst>
              <a:ext uri="{FF2B5EF4-FFF2-40B4-BE49-F238E27FC236}">
                <a16:creationId xmlns:a16="http://schemas.microsoft.com/office/drawing/2014/main" id="{51141324-55C1-9AB4-9EA2-73533DEA59E6}"/>
              </a:ext>
            </a:extLst>
          </p:cNvPr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19">
            <a:extLst>
              <a:ext uri="{FF2B5EF4-FFF2-40B4-BE49-F238E27FC236}">
                <a16:creationId xmlns:a16="http://schemas.microsoft.com/office/drawing/2014/main" id="{72B4BA33-8751-BFE9-1399-E804ABE7F0DB}"/>
              </a:ext>
            </a:extLst>
          </p:cNvPr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20">
            <a:extLst>
              <a:ext uri="{FF2B5EF4-FFF2-40B4-BE49-F238E27FC236}">
                <a16:creationId xmlns:a16="http://schemas.microsoft.com/office/drawing/2014/main" id="{C7F0D4E4-7F69-DBFE-F53D-76DEAFFE010A}"/>
              </a:ext>
            </a:extLst>
          </p:cNvPr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21">
            <a:extLst>
              <a:ext uri="{FF2B5EF4-FFF2-40B4-BE49-F238E27FC236}">
                <a16:creationId xmlns:a16="http://schemas.microsoft.com/office/drawing/2014/main" id="{7A950D80-1A5E-66F4-19FD-F775D76C6C50}"/>
              </a:ext>
            </a:extLst>
          </p:cNvPr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22">
            <a:extLst>
              <a:ext uri="{FF2B5EF4-FFF2-40B4-BE49-F238E27FC236}">
                <a16:creationId xmlns:a16="http://schemas.microsoft.com/office/drawing/2014/main" id="{4B2AD7EA-9FBB-D22E-6AE4-0CF228E173A1}"/>
              </a:ext>
            </a:extLst>
          </p:cNvPr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23">
            <a:extLst>
              <a:ext uri="{FF2B5EF4-FFF2-40B4-BE49-F238E27FC236}">
                <a16:creationId xmlns:a16="http://schemas.microsoft.com/office/drawing/2014/main" id="{836EB4E0-4526-A682-C8EC-E2967AA7480A}"/>
              </a:ext>
            </a:extLst>
          </p:cNvPr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24">
            <a:extLst>
              <a:ext uri="{FF2B5EF4-FFF2-40B4-BE49-F238E27FC236}">
                <a16:creationId xmlns:a16="http://schemas.microsoft.com/office/drawing/2014/main" id="{6B216A84-07E2-FA15-A7B4-8E3EA483362B}"/>
              </a:ext>
            </a:extLst>
          </p:cNvPr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25">
            <a:extLst>
              <a:ext uri="{FF2B5EF4-FFF2-40B4-BE49-F238E27FC236}">
                <a16:creationId xmlns:a16="http://schemas.microsoft.com/office/drawing/2014/main" id="{2819B136-4611-B0FC-8918-BE7D4A6B0358}"/>
              </a:ext>
            </a:extLst>
          </p:cNvPr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26">
            <a:extLst>
              <a:ext uri="{FF2B5EF4-FFF2-40B4-BE49-F238E27FC236}">
                <a16:creationId xmlns:a16="http://schemas.microsoft.com/office/drawing/2014/main" id="{BC813440-A23E-E2DE-0316-AB988B6883F8}"/>
              </a:ext>
            </a:extLst>
          </p:cNvPr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27">
            <a:extLst>
              <a:ext uri="{FF2B5EF4-FFF2-40B4-BE49-F238E27FC236}">
                <a16:creationId xmlns:a16="http://schemas.microsoft.com/office/drawing/2014/main" id="{4714D2FB-F08C-CB9B-924D-91EB6EE3CC50}"/>
              </a:ext>
            </a:extLst>
          </p:cNvPr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28">
            <a:extLst>
              <a:ext uri="{FF2B5EF4-FFF2-40B4-BE49-F238E27FC236}">
                <a16:creationId xmlns:a16="http://schemas.microsoft.com/office/drawing/2014/main" id="{15BC3E93-EC58-4081-7E56-F6939F61195C}"/>
              </a:ext>
            </a:extLst>
          </p:cNvPr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E80E70E9-0ED6-E387-3F80-E4B7B2CA96B9}"/>
              </a:ext>
            </a:extLst>
          </p:cNvPr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FA5292D-4FE0-2E09-419A-FC46CF91D67C}"/>
              </a:ext>
            </a:extLst>
          </p:cNvPr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0C0CD73-DBBF-4EB7-8515-37AD21A18BC5}"/>
              </a:ext>
            </a:extLst>
          </p:cNvPr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5808" y="760487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2341"/>
                </a:solidFill>
                <a:latin typeface="Courier New"/>
              </a:defRPr>
            </a:pPr>
            <a:r>
              <a:t>01101001 01101110 01101011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rPr dirty="0"/>
              <a:t>MULTI-HOP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Inter"/>
              </a:defRPr>
            </a:pPr>
            <a:r>
              <a:rPr dirty="0"/>
              <a:t>ESP-TO-ESP PACKET FORWARDING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600200" y="2286000"/>
            <a:ext cx="2514600" cy="1600200"/>
          </a:xfrm>
          <a:prstGeom prst="line">
            <a:avLst/>
          </a:prstGeom>
          <a:ln w="4445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8600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9FF14"/>
                </a:solidFill>
                <a:latin typeface="Inter"/>
              </a:defRPr>
            </a:pPr>
            <a:r>
              <a:t>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3886200"/>
            <a:ext cx="2514600" cy="1143000"/>
          </a:xfrm>
          <a:prstGeom prst="line">
            <a:avLst/>
          </a:prstGeom>
          <a:ln w="19050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14800" y="2286000"/>
            <a:ext cx="2743200" cy="1371600"/>
          </a:xfrm>
          <a:prstGeom prst="line">
            <a:avLst/>
          </a:prstGeom>
          <a:ln w="4445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9FF14"/>
                </a:solidFill>
                <a:latin typeface="Inter"/>
              </a:defRPr>
            </a:pPr>
            <a:r>
              <a:t>DATA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4114800" y="3657600"/>
            <a:ext cx="2743200" cy="1371600"/>
          </a:xfrm>
          <a:prstGeom prst="line">
            <a:avLst/>
          </a:prstGeom>
          <a:ln w="19050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858000" y="3566160"/>
            <a:ext cx="2651760" cy="91440"/>
          </a:xfrm>
          <a:prstGeom prst="line">
            <a:avLst/>
          </a:prstGeom>
          <a:ln w="44450">
            <a:solidFill>
              <a:srgbClr val="39F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9FF14"/>
                </a:solidFill>
                <a:latin typeface="Inter"/>
              </a:defRPr>
            </a:pPr>
            <a:r>
              <a:t>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200400"/>
            <a:ext cx="1371600" cy="73152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337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📱 Sender</a:t>
            </a:r>
          </a:p>
        </p:txBody>
      </p:sp>
      <p:sp>
        <p:nvSpPr>
          <p:cNvPr id="27" name="Hexagon 26"/>
          <p:cNvSpPr/>
          <p:nvPr/>
        </p:nvSpPr>
        <p:spPr>
          <a:xfrm>
            <a:off x="3657600" y="1828800"/>
            <a:ext cx="1097280" cy="1097280"/>
          </a:xfrm>
          <a:prstGeom prst="hexagon">
            <a:avLst/>
          </a:prstGeom>
          <a:solidFill>
            <a:srgbClr val="0F172A"/>
          </a:solidFill>
          <a:ln w="317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0" y="21031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⚡ ESP32</a:t>
            </a:r>
            <a:br/>
            <a:r>
              <a:t>Node A</a:t>
            </a:r>
          </a:p>
        </p:txBody>
      </p:sp>
      <p:sp>
        <p:nvSpPr>
          <p:cNvPr id="29" name="Hexagon 28"/>
          <p:cNvSpPr/>
          <p:nvPr/>
        </p:nvSpPr>
        <p:spPr>
          <a:xfrm>
            <a:off x="3611880" y="4098577"/>
            <a:ext cx="1097280" cy="1097280"/>
          </a:xfrm>
          <a:prstGeom prst="hexagon">
            <a:avLst/>
          </a:prstGeom>
          <a:solidFill>
            <a:srgbClr val="0F17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89020" y="44577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rPr dirty="0"/>
              <a:t>⚡ ESP32</a:t>
            </a:r>
            <a:br>
              <a:rPr dirty="0"/>
            </a:br>
            <a:r>
              <a:rPr dirty="0"/>
              <a:t>Node B</a:t>
            </a:r>
          </a:p>
        </p:txBody>
      </p:sp>
      <p:sp>
        <p:nvSpPr>
          <p:cNvPr id="31" name="Hexagon 30"/>
          <p:cNvSpPr/>
          <p:nvPr/>
        </p:nvSpPr>
        <p:spPr>
          <a:xfrm>
            <a:off x="6400800" y="3200400"/>
            <a:ext cx="1097280" cy="1097280"/>
          </a:xfrm>
          <a:prstGeom prst="hexagon">
            <a:avLst/>
          </a:prstGeom>
          <a:solidFill>
            <a:srgbClr val="0F172A"/>
          </a:solidFill>
          <a:ln w="317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3474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rPr dirty="0"/>
              <a:t>⚡ ESP32</a:t>
            </a:r>
            <a:br>
              <a:rPr dirty="0"/>
            </a:br>
            <a:r>
              <a:rPr dirty="0"/>
              <a:t>Node 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200400"/>
            <a:ext cx="1371600" cy="73152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0" y="3337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📲 Receiver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486400"/>
            <a:ext cx="1042416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623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Inter"/>
              </a:defRPr>
            </a:pPr>
            <a:r>
              <a:t>When the Receiver is out of direct range, the protocol dynamically routes the payload through intermediate ESP32 nodes (Node A → Node C). Inactive nodes (Node B) remain on standby to self-heal the network if a primary node fails.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40A0922-D0A1-D36B-5CE7-211EE2414CB4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">
            <a:extLst>
              <a:ext uri="{FF2B5EF4-FFF2-40B4-BE49-F238E27FC236}">
                <a16:creationId xmlns:a16="http://schemas.microsoft.com/office/drawing/2014/main" id="{CF33348D-643D-D9F0-8DC2-54EEA41022A8}"/>
              </a:ext>
            </a:extLst>
          </p:cNvPr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3">
            <a:extLst>
              <a:ext uri="{FF2B5EF4-FFF2-40B4-BE49-F238E27FC236}">
                <a16:creationId xmlns:a16="http://schemas.microsoft.com/office/drawing/2014/main" id="{8A82B80F-863C-9DA1-2799-1E6329CB4EF9}"/>
              </a:ext>
            </a:extLst>
          </p:cNvPr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4">
            <a:extLst>
              <a:ext uri="{FF2B5EF4-FFF2-40B4-BE49-F238E27FC236}">
                <a16:creationId xmlns:a16="http://schemas.microsoft.com/office/drawing/2014/main" id="{443A607B-AD95-6C56-A2A3-0E0EAE22413A}"/>
              </a:ext>
            </a:extLst>
          </p:cNvPr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5">
            <a:extLst>
              <a:ext uri="{FF2B5EF4-FFF2-40B4-BE49-F238E27FC236}">
                <a16:creationId xmlns:a16="http://schemas.microsoft.com/office/drawing/2014/main" id="{ACBFAB1E-6CE3-CAAB-2377-FE8BAA48531D}"/>
              </a:ext>
            </a:extLst>
          </p:cNvPr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6">
            <a:extLst>
              <a:ext uri="{FF2B5EF4-FFF2-40B4-BE49-F238E27FC236}">
                <a16:creationId xmlns:a16="http://schemas.microsoft.com/office/drawing/2014/main" id="{7DB7D4D4-2BF7-B2A7-E34F-26BA456B461F}"/>
              </a:ext>
            </a:extLst>
          </p:cNvPr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7">
            <a:extLst>
              <a:ext uri="{FF2B5EF4-FFF2-40B4-BE49-F238E27FC236}">
                <a16:creationId xmlns:a16="http://schemas.microsoft.com/office/drawing/2014/main" id="{7EA0D201-D91E-FD56-3E96-3C60298E4046}"/>
              </a:ext>
            </a:extLst>
          </p:cNvPr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8">
            <a:extLst>
              <a:ext uri="{FF2B5EF4-FFF2-40B4-BE49-F238E27FC236}">
                <a16:creationId xmlns:a16="http://schemas.microsoft.com/office/drawing/2014/main" id="{6B49FDDB-7B6A-49E8-666E-11E772D48966}"/>
              </a:ext>
            </a:extLst>
          </p:cNvPr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9">
            <a:extLst>
              <a:ext uri="{FF2B5EF4-FFF2-40B4-BE49-F238E27FC236}">
                <a16:creationId xmlns:a16="http://schemas.microsoft.com/office/drawing/2014/main" id="{D7F4B609-DF38-77A2-DBC5-B8D0F2FDB2C8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0">
            <a:extLst>
              <a:ext uri="{FF2B5EF4-FFF2-40B4-BE49-F238E27FC236}">
                <a16:creationId xmlns:a16="http://schemas.microsoft.com/office/drawing/2014/main" id="{98C748CF-10D6-809E-1210-F53C1C7B5529}"/>
              </a:ext>
            </a:extLst>
          </p:cNvPr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1">
            <a:extLst>
              <a:ext uri="{FF2B5EF4-FFF2-40B4-BE49-F238E27FC236}">
                <a16:creationId xmlns:a16="http://schemas.microsoft.com/office/drawing/2014/main" id="{3CD56B82-6EA1-E74E-E8A2-A484F573104D}"/>
              </a:ext>
            </a:extLst>
          </p:cNvPr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12">
            <a:extLst>
              <a:ext uri="{FF2B5EF4-FFF2-40B4-BE49-F238E27FC236}">
                <a16:creationId xmlns:a16="http://schemas.microsoft.com/office/drawing/2014/main" id="{607F0621-C7CB-A5D9-6CDA-750212C381A5}"/>
              </a:ext>
            </a:extLst>
          </p:cNvPr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13">
            <a:extLst>
              <a:ext uri="{FF2B5EF4-FFF2-40B4-BE49-F238E27FC236}">
                <a16:creationId xmlns:a16="http://schemas.microsoft.com/office/drawing/2014/main" id="{C276B00F-1B40-F634-BD00-3DEFE45447F1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14">
            <a:extLst>
              <a:ext uri="{FF2B5EF4-FFF2-40B4-BE49-F238E27FC236}">
                <a16:creationId xmlns:a16="http://schemas.microsoft.com/office/drawing/2014/main" id="{D6F3D5DC-0388-B120-63C3-E0AF82CB7EB8}"/>
              </a:ext>
            </a:extLst>
          </p:cNvPr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15">
            <a:extLst>
              <a:ext uri="{FF2B5EF4-FFF2-40B4-BE49-F238E27FC236}">
                <a16:creationId xmlns:a16="http://schemas.microsoft.com/office/drawing/2014/main" id="{5B8165BA-BA96-B889-0E2D-A0822A8F72EB}"/>
              </a:ext>
            </a:extLst>
          </p:cNvPr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16">
            <a:extLst>
              <a:ext uri="{FF2B5EF4-FFF2-40B4-BE49-F238E27FC236}">
                <a16:creationId xmlns:a16="http://schemas.microsoft.com/office/drawing/2014/main" id="{49B27F26-7276-D84B-091D-BBAEC3B33C94}"/>
              </a:ext>
            </a:extLst>
          </p:cNvPr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17">
            <a:extLst>
              <a:ext uri="{FF2B5EF4-FFF2-40B4-BE49-F238E27FC236}">
                <a16:creationId xmlns:a16="http://schemas.microsoft.com/office/drawing/2014/main" id="{77C5EE36-4206-70D0-F10F-0A7BCD3F12DE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18">
            <a:extLst>
              <a:ext uri="{FF2B5EF4-FFF2-40B4-BE49-F238E27FC236}">
                <a16:creationId xmlns:a16="http://schemas.microsoft.com/office/drawing/2014/main" id="{4455A4D8-D23D-0B12-2EEF-4D6BDCEB0014}"/>
              </a:ext>
            </a:extLst>
          </p:cNvPr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19">
            <a:extLst>
              <a:ext uri="{FF2B5EF4-FFF2-40B4-BE49-F238E27FC236}">
                <a16:creationId xmlns:a16="http://schemas.microsoft.com/office/drawing/2014/main" id="{D37D956C-A88A-0EF4-1BD8-BA8AA9575CDB}"/>
              </a:ext>
            </a:extLst>
          </p:cNvPr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20">
            <a:extLst>
              <a:ext uri="{FF2B5EF4-FFF2-40B4-BE49-F238E27FC236}">
                <a16:creationId xmlns:a16="http://schemas.microsoft.com/office/drawing/2014/main" id="{514230F9-6EDD-D613-35AE-1F68B04ED05F}"/>
              </a:ext>
            </a:extLst>
          </p:cNvPr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21">
            <a:extLst>
              <a:ext uri="{FF2B5EF4-FFF2-40B4-BE49-F238E27FC236}">
                <a16:creationId xmlns:a16="http://schemas.microsoft.com/office/drawing/2014/main" id="{3D7F149E-7D9F-9663-4921-577750E182FF}"/>
              </a:ext>
            </a:extLst>
          </p:cNvPr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22">
            <a:extLst>
              <a:ext uri="{FF2B5EF4-FFF2-40B4-BE49-F238E27FC236}">
                <a16:creationId xmlns:a16="http://schemas.microsoft.com/office/drawing/2014/main" id="{C7F45187-4B64-2049-0424-8DBC6C253E4A}"/>
              </a:ext>
            </a:extLst>
          </p:cNvPr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23">
            <a:extLst>
              <a:ext uri="{FF2B5EF4-FFF2-40B4-BE49-F238E27FC236}">
                <a16:creationId xmlns:a16="http://schemas.microsoft.com/office/drawing/2014/main" id="{F5640257-28BC-8012-A1E1-69C9ACD998EF}"/>
              </a:ext>
            </a:extLst>
          </p:cNvPr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24">
            <a:extLst>
              <a:ext uri="{FF2B5EF4-FFF2-40B4-BE49-F238E27FC236}">
                <a16:creationId xmlns:a16="http://schemas.microsoft.com/office/drawing/2014/main" id="{31A84B5F-F720-D72F-2806-F498BDEA5B65}"/>
              </a:ext>
            </a:extLst>
          </p:cNvPr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25">
            <a:extLst>
              <a:ext uri="{FF2B5EF4-FFF2-40B4-BE49-F238E27FC236}">
                <a16:creationId xmlns:a16="http://schemas.microsoft.com/office/drawing/2014/main" id="{CF8E12C8-E35D-E671-A828-2A8577CA19EF}"/>
              </a:ext>
            </a:extLst>
          </p:cNvPr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26">
            <a:extLst>
              <a:ext uri="{FF2B5EF4-FFF2-40B4-BE49-F238E27FC236}">
                <a16:creationId xmlns:a16="http://schemas.microsoft.com/office/drawing/2014/main" id="{C31DD54E-7536-1240-A952-FF740DB6E4A0}"/>
              </a:ext>
            </a:extLst>
          </p:cNvPr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27">
            <a:extLst>
              <a:ext uri="{FF2B5EF4-FFF2-40B4-BE49-F238E27FC236}">
                <a16:creationId xmlns:a16="http://schemas.microsoft.com/office/drawing/2014/main" id="{D8FE25C8-257D-62D1-D90E-6B4AFC8B3720}"/>
              </a:ext>
            </a:extLst>
          </p:cNvPr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28">
            <a:extLst>
              <a:ext uri="{FF2B5EF4-FFF2-40B4-BE49-F238E27FC236}">
                <a16:creationId xmlns:a16="http://schemas.microsoft.com/office/drawing/2014/main" id="{F6C1D337-413B-2F3A-7CC2-A3AA73B3E916}"/>
              </a:ext>
            </a:extLst>
          </p:cNvPr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3FA7EDDB-752C-B4C4-2C64-D5EF63961356}"/>
              </a:ext>
            </a:extLst>
          </p:cNvPr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1E089BD-8DBF-1764-1EAA-7E4B0514D77B}"/>
              </a:ext>
            </a:extLst>
          </p:cNvPr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EEE2430-E657-CB08-DB28-453E2C3CED5F}"/>
              </a:ext>
            </a:extLst>
          </p:cNvPr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2926080" cy="22860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Android / Kotlin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291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Jetpack Compose · Navigation · ViewModel · Room DB · Foreground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86000"/>
            <a:ext cx="2926080" cy="22860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Embedded / C++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91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ESP32 Arduino SDK · WiFi.h · WiFiUdp.h · ArduinoJson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286000"/>
            <a:ext cx="2926080" cy="2286000"/>
          </a:xfrm>
          <a:prstGeom prst="roundRect">
            <a:avLst/>
          </a:prstGeom>
          <a:solidFill>
            <a:srgbClr val="141E32"/>
          </a:solidFill>
          <a:ln>
            <a:solidFill>
              <a:srgbClr val="0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Networking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32918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  <a:latin typeface="Arial"/>
              </a:defRPr>
            </a:pPr>
            <a:r>
              <a:t>WifiNetworkSpecifier API · UDP Datagrams · Port 8888 · Broadcast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2011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rPr lang="en-US" dirty="0"/>
              <a:t>NO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37160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Internet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029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rPr dirty="0"/>
              <a:t>&lt;₹400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Hardware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029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t>8888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UDP 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029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t>2s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Broadcast Interval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44B9261-2D88-D2F6-0A4A-429C42AE4858}"/>
              </a:ext>
            </a:extLst>
          </p:cNvPr>
          <p:cNvSpPr/>
          <p:nvPr/>
        </p:nvSpPr>
        <p:spPr>
          <a:xfrm>
            <a:off x="-45568" y="36576"/>
            <a:ext cx="12344095" cy="6973824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2">
            <a:extLst>
              <a:ext uri="{FF2B5EF4-FFF2-40B4-BE49-F238E27FC236}">
                <a16:creationId xmlns:a16="http://schemas.microsoft.com/office/drawing/2014/main" id="{BD335602-FC0C-454F-E43A-8F0673F38688}"/>
              </a:ext>
            </a:extLst>
          </p:cNvPr>
          <p:cNvCxnSpPr>
            <a:cxnSpLocks/>
          </p:cNvCxnSpPr>
          <p:nvPr/>
        </p:nvCxnSpPr>
        <p:spPr>
          <a:xfrm>
            <a:off x="8382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3">
            <a:extLst>
              <a:ext uri="{FF2B5EF4-FFF2-40B4-BE49-F238E27FC236}">
                <a16:creationId xmlns:a16="http://schemas.microsoft.com/office/drawing/2014/main" id="{0D5B2BB8-CB41-C8F2-7DE4-E7A46554894D}"/>
              </a:ext>
            </a:extLst>
          </p:cNvPr>
          <p:cNvCxnSpPr>
            <a:cxnSpLocks/>
          </p:cNvCxnSpPr>
          <p:nvPr/>
        </p:nvCxnSpPr>
        <p:spPr>
          <a:xfrm>
            <a:off x="15240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4">
            <a:extLst>
              <a:ext uri="{FF2B5EF4-FFF2-40B4-BE49-F238E27FC236}">
                <a16:creationId xmlns:a16="http://schemas.microsoft.com/office/drawing/2014/main" id="{1EDB8F86-5D91-4830-3EDF-D747CF4E6C85}"/>
              </a:ext>
            </a:extLst>
          </p:cNvPr>
          <p:cNvCxnSpPr>
            <a:cxnSpLocks/>
          </p:cNvCxnSpPr>
          <p:nvPr/>
        </p:nvCxnSpPr>
        <p:spPr>
          <a:xfrm>
            <a:off x="22098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5">
            <a:extLst>
              <a:ext uri="{FF2B5EF4-FFF2-40B4-BE49-F238E27FC236}">
                <a16:creationId xmlns:a16="http://schemas.microsoft.com/office/drawing/2014/main" id="{F9E09877-AEC9-052C-E3C7-957F1AF8AA50}"/>
              </a:ext>
            </a:extLst>
          </p:cNvPr>
          <p:cNvCxnSpPr>
            <a:cxnSpLocks/>
          </p:cNvCxnSpPr>
          <p:nvPr/>
        </p:nvCxnSpPr>
        <p:spPr>
          <a:xfrm>
            <a:off x="28956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6">
            <a:extLst>
              <a:ext uri="{FF2B5EF4-FFF2-40B4-BE49-F238E27FC236}">
                <a16:creationId xmlns:a16="http://schemas.microsoft.com/office/drawing/2014/main" id="{0FA415A6-0630-D5BD-C7E7-A8118CCBE5F8}"/>
              </a:ext>
            </a:extLst>
          </p:cNvPr>
          <p:cNvCxnSpPr>
            <a:cxnSpLocks/>
          </p:cNvCxnSpPr>
          <p:nvPr/>
        </p:nvCxnSpPr>
        <p:spPr>
          <a:xfrm>
            <a:off x="35814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7">
            <a:extLst>
              <a:ext uri="{FF2B5EF4-FFF2-40B4-BE49-F238E27FC236}">
                <a16:creationId xmlns:a16="http://schemas.microsoft.com/office/drawing/2014/main" id="{ADC9061B-5F87-9CDC-4440-0AC569ADE9DC}"/>
              </a:ext>
            </a:extLst>
          </p:cNvPr>
          <p:cNvCxnSpPr>
            <a:cxnSpLocks/>
          </p:cNvCxnSpPr>
          <p:nvPr/>
        </p:nvCxnSpPr>
        <p:spPr>
          <a:xfrm>
            <a:off x="42672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8">
            <a:extLst>
              <a:ext uri="{FF2B5EF4-FFF2-40B4-BE49-F238E27FC236}">
                <a16:creationId xmlns:a16="http://schemas.microsoft.com/office/drawing/2014/main" id="{4FBDD1EB-53E7-DE89-5FB4-E7AB5904A341}"/>
              </a:ext>
            </a:extLst>
          </p:cNvPr>
          <p:cNvCxnSpPr>
            <a:cxnSpLocks/>
          </p:cNvCxnSpPr>
          <p:nvPr/>
        </p:nvCxnSpPr>
        <p:spPr>
          <a:xfrm>
            <a:off x="49530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9">
            <a:extLst>
              <a:ext uri="{FF2B5EF4-FFF2-40B4-BE49-F238E27FC236}">
                <a16:creationId xmlns:a16="http://schemas.microsoft.com/office/drawing/2014/main" id="{FEA91246-1DD5-733C-AA58-67F942EAF1BF}"/>
              </a:ext>
            </a:extLst>
          </p:cNvPr>
          <p:cNvCxnSpPr>
            <a:cxnSpLocks/>
          </p:cNvCxnSpPr>
          <p:nvPr/>
        </p:nvCxnSpPr>
        <p:spPr>
          <a:xfrm>
            <a:off x="56388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0">
            <a:extLst>
              <a:ext uri="{FF2B5EF4-FFF2-40B4-BE49-F238E27FC236}">
                <a16:creationId xmlns:a16="http://schemas.microsoft.com/office/drawing/2014/main" id="{E930616D-9228-C116-1ADF-8EC8E9B7C9E5}"/>
              </a:ext>
            </a:extLst>
          </p:cNvPr>
          <p:cNvCxnSpPr>
            <a:cxnSpLocks/>
          </p:cNvCxnSpPr>
          <p:nvPr/>
        </p:nvCxnSpPr>
        <p:spPr>
          <a:xfrm>
            <a:off x="63246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11">
            <a:extLst>
              <a:ext uri="{FF2B5EF4-FFF2-40B4-BE49-F238E27FC236}">
                <a16:creationId xmlns:a16="http://schemas.microsoft.com/office/drawing/2014/main" id="{71AF6979-FEC8-27CB-D819-829BE20A04BB}"/>
              </a:ext>
            </a:extLst>
          </p:cNvPr>
          <p:cNvCxnSpPr>
            <a:cxnSpLocks/>
          </p:cNvCxnSpPr>
          <p:nvPr/>
        </p:nvCxnSpPr>
        <p:spPr>
          <a:xfrm>
            <a:off x="70104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12">
            <a:extLst>
              <a:ext uri="{FF2B5EF4-FFF2-40B4-BE49-F238E27FC236}">
                <a16:creationId xmlns:a16="http://schemas.microsoft.com/office/drawing/2014/main" id="{98E8FE39-CD47-6D48-AA32-5B31EC507FF2}"/>
              </a:ext>
            </a:extLst>
          </p:cNvPr>
          <p:cNvCxnSpPr>
            <a:cxnSpLocks/>
          </p:cNvCxnSpPr>
          <p:nvPr/>
        </p:nvCxnSpPr>
        <p:spPr>
          <a:xfrm>
            <a:off x="76962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3">
            <a:extLst>
              <a:ext uri="{FF2B5EF4-FFF2-40B4-BE49-F238E27FC236}">
                <a16:creationId xmlns:a16="http://schemas.microsoft.com/office/drawing/2014/main" id="{1AD506FF-80B6-9A45-5465-871AD61B7E45}"/>
              </a:ext>
            </a:extLst>
          </p:cNvPr>
          <p:cNvCxnSpPr>
            <a:cxnSpLocks/>
          </p:cNvCxnSpPr>
          <p:nvPr/>
        </p:nvCxnSpPr>
        <p:spPr>
          <a:xfrm>
            <a:off x="83820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14">
            <a:extLst>
              <a:ext uri="{FF2B5EF4-FFF2-40B4-BE49-F238E27FC236}">
                <a16:creationId xmlns:a16="http://schemas.microsoft.com/office/drawing/2014/main" id="{13DD55EB-E64E-1FB6-4E5E-427C491BC573}"/>
              </a:ext>
            </a:extLst>
          </p:cNvPr>
          <p:cNvCxnSpPr>
            <a:cxnSpLocks/>
          </p:cNvCxnSpPr>
          <p:nvPr/>
        </p:nvCxnSpPr>
        <p:spPr>
          <a:xfrm>
            <a:off x="90678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15">
            <a:extLst>
              <a:ext uri="{FF2B5EF4-FFF2-40B4-BE49-F238E27FC236}">
                <a16:creationId xmlns:a16="http://schemas.microsoft.com/office/drawing/2014/main" id="{29DC378F-548A-A048-D345-634FE82AD977}"/>
              </a:ext>
            </a:extLst>
          </p:cNvPr>
          <p:cNvCxnSpPr>
            <a:cxnSpLocks/>
          </p:cNvCxnSpPr>
          <p:nvPr/>
        </p:nvCxnSpPr>
        <p:spPr>
          <a:xfrm>
            <a:off x="97536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16">
            <a:extLst>
              <a:ext uri="{FF2B5EF4-FFF2-40B4-BE49-F238E27FC236}">
                <a16:creationId xmlns:a16="http://schemas.microsoft.com/office/drawing/2014/main" id="{CDCDA32C-4686-93CD-142F-240CC947EDA0}"/>
              </a:ext>
            </a:extLst>
          </p:cNvPr>
          <p:cNvCxnSpPr>
            <a:cxnSpLocks/>
          </p:cNvCxnSpPr>
          <p:nvPr/>
        </p:nvCxnSpPr>
        <p:spPr>
          <a:xfrm>
            <a:off x="104394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17">
            <a:extLst>
              <a:ext uri="{FF2B5EF4-FFF2-40B4-BE49-F238E27FC236}">
                <a16:creationId xmlns:a16="http://schemas.microsoft.com/office/drawing/2014/main" id="{8E7A7C5D-A173-C11C-AF12-7046E3624297}"/>
              </a:ext>
            </a:extLst>
          </p:cNvPr>
          <p:cNvCxnSpPr>
            <a:cxnSpLocks/>
          </p:cNvCxnSpPr>
          <p:nvPr/>
        </p:nvCxnSpPr>
        <p:spPr>
          <a:xfrm>
            <a:off x="111252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8">
            <a:extLst>
              <a:ext uri="{FF2B5EF4-FFF2-40B4-BE49-F238E27FC236}">
                <a16:creationId xmlns:a16="http://schemas.microsoft.com/office/drawing/2014/main" id="{D350EF63-C752-34D1-20FC-D93A6D305534}"/>
              </a:ext>
            </a:extLst>
          </p:cNvPr>
          <p:cNvCxnSpPr>
            <a:cxnSpLocks/>
          </p:cNvCxnSpPr>
          <p:nvPr/>
        </p:nvCxnSpPr>
        <p:spPr>
          <a:xfrm>
            <a:off x="11811000" y="15240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19">
            <a:extLst>
              <a:ext uri="{FF2B5EF4-FFF2-40B4-BE49-F238E27FC236}">
                <a16:creationId xmlns:a16="http://schemas.microsoft.com/office/drawing/2014/main" id="{6C9D0ACD-892E-5C13-0C2C-B00FAD18A9A5}"/>
              </a:ext>
            </a:extLst>
          </p:cNvPr>
          <p:cNvCxnSpPr>
            <a:cxnSpLocks/>
          </p:cNvCxnSpPr>
          <p:nvPr/>
        </p:nvCxnSpPr>
        <p:spPr>
          <a:xfrm>
            <a:off x="152400" y="838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20">
            <a:extLst>
              <a:ext uri="{FF2B5EF4-FFF2-40B4-BE49-F238E27FC236}">
                <a16:creationId xmlns:a16="http://schemas.microsoft.com/office/drawing/2014/main" id="{7C35DF5E-CC15-97CD-B128-FDDFDEBB5011}"/>
              </a:ext>
            </a:extLst>
          </p:cNvPr>
          <p:cNvCxnSpPr>
            <a:cxnSpLocks/>
          </p:cNvCxnSpPr>
          <p:nvPr/>
        </p:nvCxnSpPr>
        <p:spPr>
          <a:xfrm>
            <a:off x="152400" y="1524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21">
            <a:extLst>
              <a:ext uri="{FF2B5EF4-FFF2-40B4-BE49-F238E27FC236}">
                <a16:creationId xmlns:a16="http://schemas.microsoft.com/office/drawing/2014/main" id="{3F29719C-73CD-3D8C-B58A-27A614ABBCAC}"/>
              </a:ext>
            </a:extLst>
          </p:cNvPr>
          <p:cNvCxnSpPr>
            <a:cxnSpLocks/>
          </p:cNvCxnSpPr>
          <p:nvPr/>
        </p:nvCxnSpPr>
        <p:spPr>
          <a:xfrm>
            <a:off x="152400" y="2209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22">
            <a:extLst>
              <a:ext uri="{FF2B5EF4-FFF2-40B4-BE49-F238E27FC236}">
                <a16:creationId xmlns:a16="http://schemas.microsoft.com/office/drawing/2014/main" id="{15922B9B-A08D-2116-5804-D2E97C3CE328}"/>
              </a:ext>
            </a:extLst>
          </p:cNvPr>
          <p:cNvCxnSpPr>
            <a:cxnSpLocks/>
          </p:cNvCxnSpPr>
          <p:nvPr/>
        </p:nvCxnSpPr>
        <p:spPr>
          <a:xfrm>
            <a:off x="152400" y="2895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23">
            <a:extLst>
              <a:ext uri="{FF2B5EF4-FFF2-40B4-BE49-F238E27FC236}">
                <a16:creationId xmlns:a16="http://schemas.microsoft.com/office/drawing/2014/main" id="{FAC70317-AE68-2846-D519-90389056E76E}"/>
              </a:ext>
            </a:extLst>
          </p:cNvPr>
          <p:cNvCxnSpPr>
            <a:cxnSpLocks/>
          </p:cNvCxnSpPr>
          <p:nvPr/>
        </p:nvCxnSpPr>
        <p:spPr>
          <a:xfrm>
            <a:off x="152400" y="3581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24">
            <a:extLst>
              <a:ext uri="{FF2B5EF4-FFF2-40B4-BE49-F238E27FC236}">
                <a16:creationId xmlns:a16="http://schemas.microsoft.com/office/drawing/2014/main" id="{CBB4508F-E13D-4E24-9E5C-4FB204F0DEE6}"/>
              </a:ext>
            </a:extLst>
          </p:cNvPr>
          <p:cNvCxnSpPr>
            <a:cxnSpLocks/>
          </p:cNvCxnSpPr>
          <p:nvPr/>
        </p:nvCxnSpPr>
        <p:spPr>
          <a:xfrm>
            <a:off x="152400" y="4267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25">
            <a:extLst>
              <a:ext uri="{FF2B5EF4-FFF2-40B4-BE49-F238E27FC236}">
                <a16:creationId xmlns:a16="http://schemas.microsoft.com/office/drawing/2014/main" id="{899B9F29-0B99-F5FB-968A-A11968E6CE32}"/>
              </a:ext>
            </a:extLst>
          </p:cNvPr>
          <p:cNvCxnSpPr>
            <a:cxnSpLocks/>
          </p:cNvCxnSpPr>
          <p:nvPr/>
        </p:nvCxnSpPr>
        <p:spPr>
          <a:xfrm>
            <a:off x="152400" y="4953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26">
            <a:extLst>
              <a:ext uri="{FF2B5EF4-FFF2-40B4-BE49-F238E27FC236}">
                <a16:creationId xmlns:a16="http://schemas.microsoft.com/office/drawing/2014/main" id="{624243F9-E590-D211-B31D-2BADA6F63EE6}"/>
              </a:ext>
            </a:extLst>
          </p:cNvPr>
          <p:cNvCxnSpPr>
            <a:cxnSpLocks/>
          </p:cNvCxnSpPr>
          <p:nvPr/>
        </p:nvCxnSpPr>
        <p:spPr>
          <a:xfrm>
            <a:off x="152400" y="5638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27">
            <a:extLst>
              <a:ext uri="{FF2B5EF4-FFF2-40B4-BE49-F238E27FC236}">
                <a16:creationId xmlns:a16="http://schemas.microsoft.com/office/drawing/2014/main" id="{6C0288B4-187C-AEF6-CA63-B0E80D99CC7A}"/>
              </a:ext>
            </a:extLst>
          </p:cNvPr>
          <p:cNvCxnSpPr>
            <a:cxnSpLocks/>
          </p:cNvCxnSpPr>
          <p:nvPr/>
        </p:nvCxnSpPr>
        <p:spPr>
          <a:xfrm>
            <a:off x="152400" y="6324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28">
            <a:extLst>
              <a:ext uri="{FF2B5EF4-FFF2-40B4-BE49-F238E27FC236}">
                <a16:creationId xmlns:a16="http://schemas.microsoft.com/office/drawing/2014/main" id="{E669C2A1-3126-7968-EE51-596C47FEF600}"/>
              </a:ext>
            </a:extLst>
          </p:cNvPr>
          <p:cNvCxnSpPr>
            <a:cxnSpLocks/>
          </p:cNvCxnSpPr>
          <p:nvPr/>
        </p:nvCxnSpPr>
        <p:spPr>
          <a:xfrm>
            <a:off x="152400" y="7010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E23805D8-FC11-F13A-D9DA-83FFBEB31DA2}"/>
              </a:ext>
            </a:extLst>
          </p:cNvPr>
          <p:cNvSpPr/>
          <p:nvPr/>
        </p:nvSpPr>
        <p:spPr>
          <a:xfrm>
            <a:off x="609600" y="6096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9031BC1-216E-E48E-3D45-B89DBF64E7A4}"/>
              </a:ext>
            </a:extLst>
          </p:cNvPr>
          <p:cNvSpPr/>
          <p:nvPr/>
        </p:nvSpPr>
        <p:spPr>
          <a:xfrm>
            <a:off x="11795455" y="6096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26607A2-63EB-B7B5-1600-8C2047EB2CB2}"/>
              </a:ext>
            </a:extLst>
          </p:cNvPr>
          <p:cNvSpPr/>
          <p:nvPr/>
        </p:nvSpPr>
        <p:spPr>
          <a:xfrm>
            <a:off x="44241" y="6973823"/>
            <a:ext cx="12344095" cy="45719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0" name="TracH_100"/>
          <p:cNvCxnSpPr/>
          <p:nvPr/>
        </p:nvCxnSpPr>
        <p:spPr>
          <a:xfrm>
            <a:off x="182880" y="4754880"/>
            <a:ext cx="1280160" cy="0"/>
          </a:xfrm>
          <a:prstGeom prst="line">
            <a:avLst/>
          </a:prstGeom>
          <a:ln w="9525">
            <a:solidFill>
              <a:srgbClr val="00D4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TracH_101"/>
          <p:cNvCxnSpPr/>
          <p:nvPr/>
        </p:nvCxnSpPr>
        <p:spPr>
          <a:xfrm>
            <a:off x="457200" y="5120640"/>
            <a:ext cx="822960" cy="0"/>
          </a:xfrm>
          <a:prstGeom prst="line">
            <a:avLst/>
          </a:prstGeom>
          <a:ln w="9525">
            <a:solidFill>
              <a:srgbClr val="00D4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TracH_102"/>
          <p:cNvCxnSpPr/>
          <p:nvPr/>
        </p:nvCxnSpPr>
        <p:spPr>
          <a:xfrm>
            <a:off x="91440" y="5486400"/>
            <a:ext cx="1645920" cy="0"/>
          </a:xfrm>
          <a:prstGeom prst="line">
            <a:avLst/>
          </a:prstGeom>
          <a:ln w="9525">
            <a:solidFill>
              <a:srgbClr val="00D4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TracH_103"/>
          <p:cNvCxnSpPr/>
          <p:nvPr/>
        </p:nvCxnSpPr>
        <p:spPr>
          <a:xfrm>
            <a:off x="274320" y="5852160"/>
            <a:ext cx="914400" cy="0"/>
          </a:xfrm>
          <a:prstGeom prst="line">
            <a:avLst/>
          </a:prstGeom>
          <a:ln w="9525">
            <a:solidFill>
              <a:srgbClr val="00D4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TracV_104"/>
          <p:cNvCxnSpPr/>
          <p:nvPr/>
        </p:nvCxnSpPr>
        <p:spPr>
          <a:xfrm>
            <a:off x="731520" y="4754880"/>
            <a:ext cx="0" cy="365760"/>
          </a:xfrm>
          <a:prstGeom prst="line">
            <a:avLst/>
          </a:prstGeom>
          <a:ln w="9525">
            <a:solidFill>
              <a:srgbClr val="00D4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TracV_105"/>
          <p:cNvCxnSpPr/>
          <p:nvPr/>
        </p:nvCxnSpPr>
        <p:spPr>
          <a:xfrm>
            <a:off x="1280160" y="5120640"/>
            <a:ext cx="0" cy="365760"/>
          </a:xfrm>
          <a:prstGeom prst="line">
            <a:avLst/>
          </a:prstGeom>
          <a:ln w="9525">
            <a:solidFill>
              <a:srgbClr val="00D4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TracV_106"/>
          <p:cNvCxnSpPr/>
          <p:nvPr/>
        </p:nvCxnSpPr>
        <p:spPr>
          <a:xfrm>
            <a:off x="457200" y="5486400"/>
            <a:ext cx="0" cy="365760"/>
          </a:xfrm>
          <a:prstGeom prst="line">
            <a:avLst/>
          </a:prstGeom>
          <a:ln w="9525">
            <a:solidFill>
              <a:srgbClr val="00D4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TracV_107"/>
          <p:cNvCxnSpPr/>
          <p:nvPr/>
        </p:nvCxnSpPr>
        <p:spPr>
          <a:xfrm>
            <a:off x="914400" y="5486400"/>
            <a:ext cx="0" cy="365760"/>
          </a:xfrm>
          <a:prstGeom prst="line">
            <a:avLst/>
          </a:prstGeom>
          <a:ln w="9525">
            <a:solidFill>
              <a:srgbClr val="00D4FF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Dot_108"/>
          <p:cNvSpPr/>
          <p:nvPr/>
        </p:nvSpPr>
        <p:spPr>
          <a:xfrm>
            <a:off x="704088" y="4727448"/>
            <a:ext cx="54864" cy="54864"/>
          </a:xfrm>
          <a:prstGeom prst="ellipse">
            <a:avLst/>
          </a:prstGeom>
          <a:solidFill>
            <a:srgbClr val="00D4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Dot_109"/>
          <p:cNvSpPr/>
          <p:nvPr/>
        </p:nvSpPr>
        <p:spPr>
          <a:xfrm>
            <a:off x="1252728" y="5093208"/>
            <a:ext cx="54864" cy="54864"/>
          </a:xfrm>
          <a:prstGeom prst="ellipse">
            <a:avLst/>
          </a:prstGeom>
          <a:solidFill>
            <a:srgbClr val="00D4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Dot_110"/>
          <p:cNvSpPr/>
          <p:nvPr/>
        </p:nvSpPr>
        <p:spPr>
          <a:xfrm>
            <a:off x="429768" y="5458968"/>
            <a:ext cx="54864" cy="54864"/>
          </a:xfrm>
          <a:prstGeom prst="ellipse">
            <a:avLst/>
          </a:prstGeom>
          <a:solidFill>
            <a:srgbClr val="00D4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Dot_111"/>
          <p:cNvSpPr/>
          <p:nvPr/>
        </p:nvSpPr>
        <p:spPr>
          <a:xfrm>
            <a:off x="886968" y="5458968"/>
            <a:ext cx="54864" cy="54864"/>
          </a:xfrm>
          <a:prstGeom prst="ellipse">
            <a:avLst/>
          </a:prstGeom>
          <a:solidFill>
            <a:srgbClr val="00D4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WifiArc_112"/>
          <p:cNvSpPr/>
          <p:nvPr/>
        </p:nvSpPr>
        <p:spPr>
          <a:xfrm>
            <a:off x="10972800" y="182880"/>
            <a:ext cx="914400" cy="914400"/>
          </a:xfrm>
          <a:prstGeom prst="ellipse">
            <a:avLst/>
          </a:prstGeom>
          <a:noFill/>
          <a:ln w="12700">
            <a:solidFill>
              <a:srgbClr val="7C3AED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WifiArc_113"/>
          <p:cNvSpPr/>
          <p:nvPr/>
        </p:nvSpPr>
        <p:spPr>
          <a:xfrm>
            <a:off x="10652760" y="182880"/>
            <a:ext cx="1554480" cy="1554480"/>
          </a:xfrm>
          <a:prstGeom prst="ellipse">
            <a:avLst/>
          </a:prstGeom>
          <a:noFill/>
          <a:ln w="12700">
            <a:solidFill>
              <a:srgbClr val="7C3AED">
                <a:alpha val="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WifiArc_114"/>
          <p:cNvSpPr/>
          <p:nvPr/>
        </p:nvSpPr>
        <p:spPr>
          <a:xfrm>
            <a:off x="10332720" y="182880"/>
            <a:ext cx="2194560" cy="2194560"/>
          </a:xfrm>
          <a:prstGeom prst="ellipse">
            <a:avLst/>
          </a:prstGeom>
          <a:noFill/>
          <a:ln w="12700">
            <a:solidFill>
              <a:srgbClr val="7C3AED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WifiDot_115"/>
          <p:cNvSpPr/>
          <p:nvPr/>
        </p:nvSpPr>
        <p:spPr>
          <a:xfrm>
            <a:off x="11375136" y="585216"/>
            <a:ext cx="109728" cy="109728"/>
          </a:xfrm>
          <a:prstGeom prst="ellipse">
            <a:avLst/>
          </a:prstGeom>
          <a:solidFill>
            <a:srgbClr val="7C3AED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ChipBody_116"/>
          <p:cNvSpPr/>
          <p:nvPr/>
        </p:nvSpPr>
        <p:spPr>
          <a:xfrm>
            <a:off x="9875520" y="4846320"/>
            <a:ext cx="1005840" cy="777240"/>
          </a:xfrm>
          <a:prstGeom prst="rect">
            <a:avLst/>
          </a:prstGeom>
          <a:solidFill>
            <a:srgbClr val="0D1B35">
              <a:alpha val="60000"/>
            </a:srgbClr>
          </a:solidFill>
          <a:ln w="12700">
            <a:solidFill>
              <a:srgbClr val="00D4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7" name="PinT_117"/>
          <p:cNvCxnSpPr/>
          <p:nvPr/>
        </p:nvCxnSpPr>
        <p:spPr>
          <a:xfrm>
            <a:off x="10012680" y="4736592"/>
            <a:ext cx="0" cy="109728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PinT_118"/>
          <p:cNvCxnSpPr/>
          <p:nvPr/>
        </p:nvCxnSpPr>
        <p:spPr>
          <a:xfrm>
            <a:off x="10195560" y="4736592"/>
            <a:ext cx="0" cy="109728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PinT_119"/>
          <p:cNvCxnSpPr/>
          <p:nvPr/>
        </p:nvCxnSpPr>
        <p:spPr>
          <a:xfrm>
            <a:off x="10378440" y="4736592"/>
            <a:ext cx="0" cy="109728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PinT_120"/>
          <p:cNvCxnSpPr/>
          <p:nvPr/>
        </p:nvCxnSpPr>
        <p:spPr>
          <a:xfrm>
            <a:off x="10561320" y="4736592"/>
            <a:ext cx="0" cy="109728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PinB_121"/>
          <p:cNvCxnSpPr/>
          <p:nvPr/>
        </p:nvCxnSpPr>
        <p:spPr>
          <a:xfrm>
            <a:off x="10012680" y="5623560"/>
            <a:ext cx="0" cy="109728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PinB_122"/>
          <p:cNvCxnSpPr/>
          <p:nvPr/>
        </p:nvCxnSpPr>
        <p:spPr>
          <a:xfrm>
            <a:off x="10195560" y="5623560"/>
            <a:ext cx="0" cy="109728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PinB_123"/>
          <p:cNvCxnSpPr/>
          <p:nvPr/>
        </p:nvCxnSpPr>
        <p:spPr>
          <a:xfrm>
            <a:off x="10378440" y="5623560"/>
            <a:ext cx="0" cy="109728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PinB_124"/>
          <p:cNvCxnSpPr/>
          <p:nvPr/>
        </p:nvCxnSpPr>
        <p:spPr>
          <a:xfrm>
            <a:off x="10561320" y="5623560"/>
            <a:ext cx="0" cy="109728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PinL_125"/>
          <p:cNvCxnSpPr/>
          <p:nvPr/>
        </p:nvCxnSpPr>
        <p:spPr>
          <a:xfrm>
            <a:off x="9765792" y="4983480"/>
            <a:ext cx="109728" cy="0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PinL_126"/>
          <p:cNvCxnSpPr/>
          <p:nvPr/>
        </p:nvCxnSpPr>
        <p:spPr>
          <a:xfrm>
            <a:off x="9765792" y="5184648"/>
            <a:ext cx="109728" cy="0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PinL_127"/>
          <p:cNvCxnSpPr/>
          <p:nvPr/>
        </p:nvCxnSpPr>
        <p:spPr>
          <a:xfrm>
            <a:off x="9765792" y="5385816"/>
            <a:ext cx="109728" cy="0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PinR_128"/>
          <p:cNvCxnSpPr/>
          <p:nvPr/>
        </p:nvCxnSpPr>
        <p:spPr>
          <a:xfrm>
            <a:off x="10881360" y="4983480"/>
            <a:ext cx="109728" cy="0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PinR_129"/>
          <p:cNvCxnSpPr/>
          <p:nvPr/>
        </p:nvCxnSpPr>
        <p:spPr>
          <a:xfrm>
            <a:off x="10881360" y="5184648"/>
            <a:ext cx="109728" cy="0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PinR_130"/>
          <p:cNvCxnSpPr/>
          <p:nvPr/>
        </p:nvCxnSpPr>
        <p:spPr>
          <a:xfrm>
            <a:off x="10881360" y="5385816"/>
            <a:ext cx="109728" cy="0"/>
          </a:xfrm>
          <a:prstGeom prst="line">
            <a:avLst/>
          </a:prstGeom>
          <a:ln w="6350">
            <a:solidFill>
              <a:srgbClr val="00D4FF">
                <a:alpha val="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ChipNotch_131"/>
          <p:cNvSpPr/>
          <p:nvPr/>
        </p:nvSpPr>
        <p:spPr>
          <a:xfrm>
            <a:off x="9921240" y="4892040"/>
            <a:ext cx="73152" cy="73152"/>
          </a:xfrm>
          <a:prstGeom prst="ellipse">
            <a:avLst/>
          </a:prstGeom>
          <a:noFill/>
          <a:ln w="9525">
            <a:solidFill>
              <a:srgbClr val="00D4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SigWave_132"/>
          <p:cNvSpPr/>
          <p:nvPr/>
        </p:nvSpPr>
        <p:spPr>
          <a:xfrm>
            <a:off x="10149840" y="2834640"/>
            <a:ext cx="731520" cy="731520"/>
          </a:xfrm>
          <a:prstGeom prst="ellipse">
            <a:avLst/>
          </a:prstGeom>
          <a:noFill/>
          <a:ln w="9525">
            <a:solidFill>
              <a:srgbClr val="00D4FF">
                <a:alpha val="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SigWave_133"/>
          <p:cNvSpPr/>
          <p:nvPr/>
        </p:nvSpPr>
        <p:spPr>
          <a:xfrm>
            <a:off x="9875520" y="2560320"/>
            <a:ext cx="1280160" cy="1280160"/>
          </a:xfrm>
          <a:prstGeom prst="ellipse">
            <a:avLst/>
          </a:prstGeom>
          <a:noFill/>
          <a:ln w="9525">
            <a:solidFill>
              <a:srgbClr val="00D4FF">
                <a:alpha val="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SigWave_134"/>
          <p:cNvSpPr/>
          <p:nvPr/>
        </p:nvSpPr>
        <p:spPr>
          <a:xfrm>
            <a:off x="9601200" y="2286000"/>
            <a:ext cx="1828800" cy="1828800"/>
          </a:xfrm>
          <a:prstGeom prst="ellipse">
            <a:avLst/>
          </a:prstGeom>
          <a:noFill/>
          <a:ln w="9525">
            <a:solidFill>
              <a:srgbClr val="00D4FF">
                <a:alpha val="3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otTL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otTR"/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eftStrip"/>
          <p:cNvSpPr/>
          <p:nvPr/>
        </p:nvSpPr>
        <p:spPr>
          <a:xfrm>
            <a:off x="457200" y="640080"/>
            <a:ext cx="18288" cy="576072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itle"/>
          <p:cNvSpPr txBox="1"/>
          <p:nvPr/>
        </p:nvSpPr>
        <p:spPr>
          <a:xfrm>
            <a:off x="640080" y="320040"/>
            <a:ext cx="10911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Inter"/>
              </a:defRPr>
            </a:pPr>
            <a:r>
              <a:rPr lang="en-US" sz="2400" b="1" dirty="0">
                <a:solidFill>
                  <a:srgbClr val="FFFFFF"/>
                </a:solidFill>
                <a:latin typeface="Inter"/>
              </a:rPr>
              <a:t>LITERATURE SURVEY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640080" y="858240"/>
            <a:ext cx="80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FF"/>
                </a:solidFill>
                <a:latin typeface="Inter"/>
              </a:defRPr>
            </a:pPr>
            <a:r>
              <a:rPr lang="en-US" sz="1100" b="0" dirty="0">
                <a:solidFill>
                  <a:srgbClr val="00D4FF"/>
                </a:solidFill>
                <a:latin typeface="Inter"/>
              </a:rPr>
              <a:t>Related Work &amp; Prior Art in Offline Peer-to-Peer Communication Systems</a:t>
            </a:r>
          </a:p>
        </p:txBody>
      </p:sp>
      <p:sp>
        <p:nvSpPr>
          <p:cNvPr id="20" name="Card1BG"/>
          <p:cNvSpPr/>
          <p:nvPr/>
        </p:nvSpPr>
        <p:spPr>
          <a:xfrm>
            <a:off x="640080" y="1097280"/>
            <a:ext cx="5486400" cy="1280160"/>
          </a:xfrm>
          <a:prstGeom prst="rect">
            <a:avLst/>
          </a:prstGeom>
          <a:solidFill>
            <a:srgbClr val="0D1B35">
              <a:alpha val="85000"/>
            </a:srgbClr>
          </a:solidFill>
          <a:ln w="12700">
            <a:solidFill>
              <a:srgbClr val="00D4FF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d1Accent"/>
          <p:cNvSpPr/>
          <p:nvPr/>
        </p:nvSpPr>
        <p:spPr>
          <a:xfrm>
            <a:off x="640080" y="1097280"/>
            <a:ext cx="27432" cy="128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1Text"/>
          <p:cNvSpPr txBox="1"/>
          <p:nvPr/>
        </p:nvSpPr>
        <p:spPr>
          <a:xfrm>
            <a:off x="731520" y="1143000"/>
            <a:ext cx="534996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 algn="l">
              <a:spcBef>
                <a:spcPts val="0"/>
              </a:spcBef>
            </a:pPr>
            <a:r>
              <a:rPr lang="en-US" sz="1600" b="1" dirty="0">
                <a:solidFill>
                  <a:srgbClr val="00D4FF"/>
                </a:solidFill>
                <a:latin typeface="Inter"/>
              </a:rPr>
              <a:t>Meshtastic (2019) — LoRa Mesh</a:t>
            </a:r>
          </a:p>
          <a:p>
            <a:pPr marL="0" indent="0" algn="l">
              <a:spcBef>
                <a:spcPts val="200"/>
              </a:spcBef>
            </a:pPr>
            <a:r>
              <a:rPr lang="en-US" sz="1200" b="0" dirty="0">
                <a:solidFill>
                  <a:srgbClr val="A0AEC0"/>
                </a:solidFill>
                <a:latin typeface="Inter"/>
              </a:rPr>
              <a:t>Open-source LoRa-based mesh network for off-grid communication. Uses radio modules (not Wi-Fi); range up to 10 km but requires dedicated LoRa hardware per device and has lower bandwidth than Wi-Fi UDP.</a:t>
            </a:r>
          </a:p>
          <a:p>
            <a:pPr marL="0" indent="0" algn="l">
              <a:spcBef>
                <a:spcPts val="200"/>
              </a:spcBef>
            </a:pPr>
            <a:r>
              <a:rPr lang="en-US" sz="1200" b="0" dirty="0">
                <a:solidFill>
                  <a:srgbClr val="34D399"/>
                </a:solidFill>
                <a:latin typeface="Inter"/>
              </a:rPr>
              <a:t>Gap: Requires specialised LoRa hardware; PeerLink uses smartphone Wi-Fi directly</a:t>
            </a:r>
            <a:r>
              <a:rPr lang="en-US" sz="850" b="0" dirty="0">
                <a:solidFill>
                  <a:srgbClr val="34D399"/>
                </a:solidFill>
                <a:latin typeface="Inter"/>
              </a:rPr>
              <a:t>.</a:t>
            </a:r>
          </a:p>
        </p:txBody>
      </p:sp>
      <p:sp>
        <p:nvSpPr>
          <p:cNvPr id="30" name="Card2BG"/>
          <p:cNvSpPr/>
          <p:nvPr/>
        </p:nvSpPr>
        <p:spPr>
          <a:xfrm>
            <a:off x="6309975" y="1097280"/>
            <a:ext cx="5481720" cy="1280160"/>
          </a:xfrm>
          <a:prstGeom prst="rect">
            <a:avLst/>
          </a:prstGeom>
          <a:solidFill>
            <a:srgbClr val="0D1B35">
              <a:alpha val="85000"/>
            </a:srgbClr>
          </a:solidFill>
          <a:ln w="12700">
            <a:solidFill>
              <a:srgbClr val="7C3AED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rd2Accent"/>
          <p:cNvSpPr/>
          <p:nvPr/>
        </p:nvSpPr>
        <p:spPr>
          <a:xfrm>
            <a:off x="6309975" y="1097280"/>
            <a:ext cx="2743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rd2Text"/>
          <p:cNvSpPr txBox="1"/>
          <p:nvPr/>
        </p:nvSpPr>
        <p:spPr>
          <a:xfrm>
            <a:off x="6401415" y="1143000"/>
            <a:ext cx="5349960" cy="11887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0" indent="0" algn="l">
              <a:spcBef>
                <a:spcPts val="0"/>
              </a:spcBef>
            </a:pPr>
            <a:r>
              <a:rPr lang="en-US" sz="1600" b="1" dirty="0">
                <a:solidFill>
                  <a:srgbClr val="A78BFA"/>
                </a:solidFill>
                <a:latin typeface="Inter"/>
              </a:rPr>
              <a:t>Briar (2021) — Tor/Bluetooth P2P</a:t>
            </a:r>
          </a:p>
          <a:p>
            <a:pPr marL="0" indent="0" algn="l">
              <a:spcBef>
                <a:spcPts val="200"/>
              </a:spcBef>
            </a:pPr>
            <a:r>
              <a:rPr lang="en-US" sz="1200" b="0" dirty="0">
                <a:solidFill>
                  <a:srgbClr val="A0AEC0"/>
                </a:solidFill>
                <a:latin typeface="Inter"/>
              </a:rPr>
              <a:t>Secure messaging app using Tor, Bluetooth, or Wi-Fi Direct. Designed for activists. Requires both peers to be online simultaneously; no persistent relay node for store-and-forward.</a:t>
            </a:r>
          </a:p>
          <a:p>
            <a:pPr marL="0" indent="0" algn="l">
              <a:spcBef>
                <a:spcPts val="200"/>
              </a:spcBef>
            </a:pPr>
            <a:r>
              <a:rPr lang="en-US" sz="1200" b="0" dirty="0">
                <a:solidFill>
                  <a:srgbClr val="34D399"/>
                </a:solidFill>
                <a:latin typeface="Inter"/>
              </a:rPr>
              <a:t>Gap: No centralised relay; PeerLink’s ESP32 acts as always-on hub for asynchronous delivery.</a:t>
            </a:r>
          </a:p>
        </p:txBody>
      </p:sp>
      <p:sp>
        <p:nvSpPr>
          <p:cNvPr id="40" name="Card3BG"/>
          <p:cNvSpPr/>
          <p:nvPr/>
        </p:nvSpPr>
        <p:spPr>
          <a:xfrm>
            <a:off x="640080" y="2468880"/>
            <a:ext cx="5486400" cy="1280160"/>
          </a:xfrm>
          <a:prstGeom prst="rect">
            <a:avLst/>
          </a:prstGeom>
          <a:solidFill>
            <a:srgbClr val="0D1B35">
              <a:alpha val="85000"/>
            </a:srgbClr>
          </a:solidFill>
          <a:ln w="12700">
            <a:solidFill>
              <a:srgbClr val="FB923C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ard3Accent"/>
          <p:cNvSpPr/>
          <p:nvPr/>
        </p:nvSpPr>
        <p:spPr>
          <a:xfrm>
            <a:off x="640080" y="2468880"/>
            <a:ext cx="27432" cy="12801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ard3Text"/>
          <p:cNvSpPr txBox="1"/>
          <p:nvPr/>
        </p:nvSpPr>
        <p:spPr>
          <a:xfrm>
            <a:off x="731520" y="2514600"/>
            <a:ext cx="534996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 algn="l">
              <a:spcBef>
                <a:spcPts val="0"/>
              </a:spcBef>
            </a:pPr>
            <a:r>
              <a:rPr lang="en-US" sz="1600" b="1" dirty="0">
                <a:solidFill>
                  <a:srgbClr val="FB923C"/>
                </a:solidFill>
                <a:latin typeface="Inter"/>
              </a:rPr>
              <a:t>GoTenna Mesh (2017) — BLE/RF Mesh</a:t>
            </a:r>
          </a:p>
          <a:p>
            <a:pPr marL="0" indent="0" algn="l">
              <a:spcBef>
                <a:spcPts val="200"/>
              </a:spcBef>
            </a:pPr>
            <a:r>
              <a:rPr lang="en-US" sz="1200" b="0" dirty="0">
                <a:solidFill>
                  <a:srgbClr val="A0AEC0"/>
                </a:solidFill>
                <a:latin typeface="Inter"/>
              </a:rPr>
              <a:t>Proprietary hardware dongle using 900 MHz RF for off-grid texting. Requires purchasing a $179 device per user; not universally available and not open-source.</a:t>
            </a:r>
          </a:p>
          <a:p>
            <a:pPr marL="0" indent="0" algn="l">
              <a:spcBef>
                <a:spcPts val="200"/>
              </a:spcBef>
            </a:pPr>
            <a:r>
              <a:rPr lang="en-US" sz="1200" b="0" dirty="0">
                <a:solidFill>
                  <a:srgbClr val="34D399"/>
                </a:solidFill>
                <a:latin typeface="Inter"/>
              </a:rPr>
              <a:t>Gap: Costly &amp; closed. PeerLink uses a &lt;₹400 ESP32 with open firmware and standard Wi-Fi.</a:t>
            </a:r>
          </a:p>
        </p:txBody>
      </p:sp>
      <p:sp>
        <p:nvSpPr>
          <p:cNvPr id="50" name="Card4BG"/>
          <p:cNvSpPr/>
          <p:nvPr/>
        </p:nvSpPr>
        <p:spPr>
          <a:xfrm>
            <a:off x="6309975" y="2468880"/>
            <a:ext cx="5481720" cy="1280160"/>
          </a:xfrm>
          <a:prstGeom prst="rect">
            <a:avLst/>
          </a:prstGeom>
          <a:solidFill>
            <a:srgbClr val="0D1B35">
              <a:alpha val="85000"/>
            </a:srgbClr>
          </a:solidFill>
          <a:ln w="12700">
            <a:solidFill>
              <a:srgbClr val="34D399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ard4Accent"/>
          <p:cNvSpPr/>
          <p:nvPr/>
        </p:nvSpPr>
        <p:spPr>
          <a:xfrm>
            <a:off x="6309975" y="2468880"/>
            <a:ext cx="2743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ard4Text"/>
          <p:cNvSpPr txBox="1"/>
          <p:nvPr/>
        </p:nvSpPr>
        <p:spPr>
          <a:xfrm>
            <a:off x="6401415" y="2514600"/>
            <a:ext cx="5349960" cy="11887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0" indent="0" algn="l">
              <a:spcBef>
                <a:spcPts val="0"/>
              </a:spcBef>
            </a:pPr>
            <a:r>
              <a:rPr lang="en-US" sz="1600" b="1" dirty="0">
                <a:solidFill>
                  <a:srgbClr val="34D399"/>
                </a:solidFill>
                <a:latin typeface="Inter"/>
              </a:rPr>
              <a:t>Wi-Fi Direct (IEEE 802.11) — Ad-hoc</a:t>
            </a:r>
          </a:p>
          <a:p>
            <a:pPr marL="0" indent="0" algn="l">
              <a:spcBef>
                <a:spcPts val="200"/>
              </a:spcBef>
            </a:pPr>
            <a:r>
              <a:rPr lang="en-US" sz="1200" b="0" dirty="0">
                <a:solidFill>
                  <a:srgbClr val="A0AEC0"/>
                </a:solidFill>
                <a:latin typeface="Inter"/>
              </a:rPr>
              <a:t>Standard that allows device-to-device Wi-Fi without an AP. Android fragmentation, complex group-owner negotiation, and no multi-hop routing limit practical deployability.</a:t>
            </a:r>
          </a:p>
          <a:p>
            <a:pPr marL="0" indent="0" algn="l">
              <a:spcBef>
                <a:spcPts val="200"/>
              </a:spcBef>
            </a:pPr>
            <a:r>
              <a:rPr lang="en-US" sz="1200" b="0" dirty="0">
                <a:solidFill>
                  <a:srgbClr val="34D399"/>
                </a:solidFill>
                <a:latin typeface="Inter"/>
              </a:rPr>
              <a:t>Gap: PeerLink avoids OS-level Wi-Fi Direct; ESP32 AP provides a stable, routable subnet for all devices.</a:t>
            </a:r>
          </a:p>
        </p:txBody>
      </p:sp>
      <p:sp>
        <p:nvSpPr>
          <p:cNvPr id="60" name="SummaryBG"/>
          <p:cNvSpPr/>
          <p:nvPr/>
        </p:nvSpPr>
        <p:spPr>
          <a:xfrm>
            <a:off x="640080" y="3840480"/>
            <a:ext cx="11151615" cy="548640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SummaryText"/>
          <p:cNvSpPr txBox="1"/>
          <p:nvPr/>
        </p:nvSpPr>
        <p:spPr>
          <a:xfrm>
            <a:off x="731520" y="3886200"/>
            <a:ext cx="11060175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 algn="l">
              <a:spcBef>
                <a:spcPts val="0"/>
              </a:spcBef>
            </a:pPr>
            <a:r>
              <a:rPr lang="en-US" sz="1200" b="0" dirty="0">
                <a:solidFill>
                  <a:srgbClr val="FFFFFF"/>
                </a:solidFill>
                <a:latin typeface="Inter"/>
              </a:rPr>
              <a:t>💡  </a:t>
            </a:r>
            <a:r>
              <a:rPr lang="en-US" sz="1200" b="1" dirty="0">
                <a:solidFill>
                  <a:srgbClr val="00D4FF"/>
                </a:solidFill>
                <a:latin typeface="Inter"/>
              </a:rPr>
              <a:t>PeerLink’s Novelty</a:t>
            </a:r>
            <a:r>
              <a:rPr lang="en-US" sz="1000" b="1" dirty="0">
                <a:solidFill>
                  <a:srgbClr val="00D4FF"/>
                </a:solidFill>
                <a:latin typeface="Inter"/>
              </a:rPr>
              <a:t>: </a:t>
            </a:r>
            <a:r>
              <a:rPr lang="en-US" sz="1100" b="0" dirty="0">
                <a:solidFill>
                  <a:srgbClr val="CCCCCC"/>
                </a:solidFill>
                <a:latin typeface="Inter"/>
              </a:rPr>
              <a:t>Unlike prior work, PeerLink combines an ultra-low-cost ESP32 Wi-Fi AP with a standard Android Kotlin app (no custom hardware needed by users), providing a simple, open, and deployable offline mesh chat system</a:t>
            </a:r>
            <a:r>
              <a:rPr lang="en-US" sz="1000" b="0" dirty="0">
                <a:solidFill>
                  <a:srgbClr val="CCCCCC"/>
                </a:solidFill>
                <a:latin typeface="Inter"/>
              </a:rPr>
              <a:t>.</a:t>
            </a:r>
          </a:p>
        </p:txBody>
      </p:sp>
      <p:sp>
        <p:nvSpPr>
          <p:cNvPr id="70" name="TblHdrBG"/>
          <p:cNvSpPr/>
          <p:nvPr/>
        </p:nvSpPr>
        <p:spPr>
          <a:xfrm>
            <a:off x="640080" y="4480560"/>
            <a:ext cx="11151615" cy="320040"/>
          </a:xfrm>
          <a:prstGeom prst="rect">
            <a:avLst/>
          </a:prstGeom>
          <a:solidFill>
            <a:srgbClr val="0F1E3C"/>
          </a:solidFill>
          <a:ln w="9525">
            <a:solidFill>
              <a:srgbClr val="00D4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blHdr"/>
          <p:cNvSpPr txBox="1"/>
          <p:nvPr/>
        </p:nvSpPr>
        <p:spPr>
          <a:xfrm>
            <a:off x="640080" y="4489560"/>
            <a:ext cx="11151615" cy="30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82880"/>
            <a:r>
              <a:rPr lang="en-US" sz="1200" b="1" dirty="0">
                <a:solidFill>
                  <a:srgbClr val="00D4FF"/>
                </a:solidFill>
                <a:latin typeface="Inter"/>
              </a:rPr>
              <a:t>System                     Hardware Needed       Internet-Free   Open Source       Multi-hop                    Cost</a:t>
            </a:r>
          </a:p>
        </p:txBody>
      </p:sp>
      <p:sp>
        <p:nvSpPr>
          <p:cNvPr id="72" name="TblRows"/>
          <p:cNvSpPr txBox="1"/>
          <p:nvPr/>
        </p:nvSpPr>
        <p:spPr>
          <a:xfrm>
            <a:off x="640080" y="4800600"/>
            <a:ext cx="11151615" cy="1645920"/>
          </a:xfrm>
          <a:prstGeom prst="rect">
            <a:avLst/>
          </a:prstGeom>
          <a:solidFill>
            <a:srgbClr val="0A1628">
              <a:alpha val="70000"/>
            </a:srgbClr>
          </a:solidFill>
          <a:ln w="9525">
            <a:solidFill>
              <a:srgbClr val="00D4FF">
                <a:alpha val="1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>
            <a:normAutofit/>
          </a:bodyPr>
          <a:lstStyle/>
          <a:p>
            <a:pPr marL="0" indent="0" algn="l">
              <a:spcBef>
                <a:spcPts val="200"/>
              </a:spcBef>
            </a:pPr>
            <a:r>
              <a:rPr lang="en-US" sz="1100" b="0" dirty="0" err="1">
                <a:solidFill>
                  <a:srgbClr val="A0AEC0"/>
                </a:solidFill>
                <a:latin typeface="Inter"/>
              </a:rPr>
              <a:t>Meshtastic</a:t>
            </a:r>
            <a:r>
              <a:rPr lang="en-US" sz="1100" b="0" dirty="0">
                <a:solidFill>
                  <a:srgbClr val="A0AEC0"/>
                </a:solidFill>
                <a:latin typeface="Inter"/>
              </a:rPr>
              <a:t>                        LoRa Module                        Yes                        </a:t>
            </a:r>
            <a:r>
              <a:rPr lang="en-US" sz="1100" b="0" dirty="0" err="1">
                <a:solidFill>
                  <a:srgbClr val="A0AEC0"/>
                </a:solidFill>
                <a:latin typeface="Inter"/>
              </a:rPr>
              <a:t>Yes</a:t>
            </a:r>
            <a:r>
              <a:rPr lang="en-US" sz="1100" b="0" dirty="0">
                <a:solidFill>
                  <a:srgbClr val="A0AEC0"/>
                </a:solidFill>
                <a:latin typeface="Inter"/>
              </a:rPr>
              <a:t>                       </a:t>
            </a:r>
            <a:r>
              <a:rPr lang="en-US" sz="1100" b="0" dirty="0" err="1">
                <a:solidFill>
                  <a:srgbClr val="A0AEC0"/>
                </a:solidFill>
                <a:latin typeface="Inter"/>
              </a:rPr>
              <a:t>yes</a:t>
            </a:r>
            <a:r>
              <a:rPr lang="en-US" sz="1100" b="0" dirty="0">
                <a:solidFill>
                  <a:srgbClr val="A0AEC0"/>
                </a:solidFill>
                <a:latin typeface="Inter"/>
              </a:rPr>
              <a:t>                                ~$30-60</a:t>
            </a:r>
          </a:p>
          <a:p>
            <a:pPr marL="0" indent="0" algn="l">
              <a:spcBef>
                <a:spcPts val="200"/>
              </a:spcBef>
            </a:pPr>
            <a:r>
              <a:rPr lang="en-US" sz="1100" b="0" dirty="0">
                <a:solidFill>
                  <a:srgbClr val="A0AEC0"/>
                </a:solidFill>
                <a:latin typeface="Inter"/>
              </a:rPr>
              <a:t>Briar                               None (uses phone)                  Yes                        </a:t>
            </a:r>
            <a:r>
              <a:rPr lang="en-US" sz="1100" b="0" dirty="0" err="1">
                <a:solidFill>
                  <a:srgbClr val="A0AEC0"/>
                </a:solidFill>
                <a:latin typeface="Inter"/>
              </a:rPr>
              <a:t>Yes</a:t>
            </a:r>
            <a:r>
              <a:rPr lang="en-US" sz="1100" b="0" dirty="0">
                <a:solidFill>
                  <a:srgbClr val="A0AEC0"/>
                </a:solidFill>
                <a:latin typeface="Inter"/>
              </a:rPr>
              <a:t>               No(not automatic)               Free</a:t>
            </a:r>
          </a:p>
          <a:p>
            <a:pPr marL="0" indent="0" algn="l">
              <a:spcBef>
                <a:spcPts val="200"/>
              </a:spcBef>
            </a:pPr>
            <a:r>
              <a:rPr lang="en-US" sz="1100" b="0" dirty="0">
                <a:solidFill>
                  <a:srgbClr val="A0AEC0"/>
                </a:solidFill>
                <a:latin typeface="Inter"/>
              </a:rPr>
              <a:t>GoTenna Mesh          Proprietary RF dongle               Yes                        No                        yes                                ~$179</a:t>
            </a:r>
          </a:p>
          <a:p>
            <a:pPr marL="0" indent="0" algn="l">
              <a:spcBef>
                <a:spcPts val="200"/>
              </a:spcBef>
            </a:pPr>
            <a:r>
              <a:rPr lang="en-US" sz="1100" b="0" dirty="0">
                <a:solidFill>
                  <a:srgbClr val="A0AEC0"/>
                </a:solidFill>
                <a:latin typeface="Inter"/>
              </a:rPr>
              <a:t>Wi-Fi Direct                             None                                Yes                        </a:t>
            </a:r>
            <a:r>
              <a:rPr lang="en-US" sz="1100" b="0" dirty="0" err="1">
                <a:solidFill>
                  <a:srgbClr val="A0AEC0"/>
                </a:solidFill>
                <a:latin typeface="Inter"/>
              </a:rPr>
              <a:t>Yes</a:t>
            </a:r>
            <a:r>
              <a:rPr lang="en-US" sz="1100" b="0" dirty="0">
                <a:solidFill>
                  <a:srgbClr val="A0AEC0"/>
                </a:solidFill>
                <a:latin typeface="Inter"/>
              </a:rPr>
              <a:t>                       No                                  Free</a:t>
            </a:r>
          </a:p>
          <a:p>
            <a:pPr>
              <a:spcBef>
                <a:spcPts val="300"/>
              </a:spcBef>
            </a:pPr>
            <a:r>
              <a:rPr lang="en-US" sz="1100" b="1" dirty="0">
                <a:solidFill>
                  <a:srgbClr val="00D4FF"/>
                </a:solidFill>
                <a:latin typeface="Inter"/>
              </a:rPr>
              <a:t>PeerLink (Ours)                ESP32 (~₹400)                     Yes                        </a:t>
            </a:r>
            <a:r>
              <a:rPr lang="en-US" sz="1100" b="1" dirty="0" err="1">
                <a:solidFill>
                  <a:srgbClr val="00D4FF"/>
                </a:solidFill>
                <a:latin typeface="Inter"/>
              </a:rPr>
              <a:t>Yes</a:t>
            </a:r>
            <a:r>
              <a:rPr lang="en-US" sz="1100" b="1" dirty="0">
                <a:solidFill>
                  <a:srgbClr val="00D4FF"/>
                </a:solidFill>
                <a:latin typeface="Inter"/>
              </a:rPr>
              <a:t>                      </a:t>
            </a:r>
            <a:r>
              <a:rPr lang="en-US" sz="1100" b="1" dirty="0" err="1">
                <a:solidFill>
                  <a:srgbClr val="00D4FF"/>
                </a:solidFill>
                <a:latin typeface="Inter"/>
              </a:rPr>
              <a:t>Yes</a:t>
            </a:r>
            <a:r>
              <a:rPr lang="en-US" sz="1100" b="1" dirty="0">
                <a:solidFill>
                  <a:srgbClr val="00D4FF"/>
                </a:solidFill>
                <a:latin typeface="Inter"/>
              </a:rPr>
              <a:t>                                 ~₹400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FBD4E6-9FD5-D5A7-0943-AC46E10A8382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2">
            <a:extLst>
              <a:ext uri="{FF2B5EF4-FFF2-40B4-BE49-F238E27FC236}">
                <a16:creationId xmlns:a16="http://schemas.microsoft.com/office/drawing/2014/main" id="{6C15B672-3D4C-EAD0-781C-BD355065AE65}"/>
              </a:ext>
            </a:extLst>
          </p:cNvPr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3">
            <a:extLst>
              <a:ext uri="{FF2B5EF4-FFF2-40B4-BE49-F238E27FC236}">
                <a16:creationId xmlns:a16="http://schemas.microsoft.com/office/drawing/2014/main" id="{8CE79DBC-E56A-0463-EA4C-A7D10971AE24}"/>
              </a:ext>
            </a:extLst>
          </p:cNvPr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4">
            <a:extLst>
              <a:ext uri="{FF2B5EF4-FFF2-40B4-BE49-F238E27FC236}">
                <a16:creationId xmlns:a16="http://schemas.microsoft.com/office/drawing/2014/main" id="{C7317ACC-20EF-E8F9-66A3-825F3AA7D08E}"/>
              </a:ext>
            </a:extLst>
          </p:cNvPr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5">
            <a:extLst>
              <a:ext uri="{FF2B5EF4-FFF2-40B4-BE49-F238E27FC236}">
                <a16:creationId xmlns:a16="http://schemas.microsoft.com/office/drawing/2014/main" id="{65F7016F-A5BA-1830-C064-7E9E7F2C693F}"/>
              </a:ext>
            </a:extLst>
          </p:cNvPr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6">
            <a:extLst>
              <a:ext uri="{FF2B5EF4-FFF2-40B4-BE49-F238E27FC236}">
                <a16:creationId xmlns:a16="http://schemas.microsoft.com/office/drawing/2014/main" id="{3E482FDB-B5B5-A132-39B5-92142D04AED2}"/>
              </a:ext>
            </a:extLst>
          </p:cNvPr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7">
            <a:extLst>
              <a:ext uri="{FF2B5EF4-FFF2-40B4-BE49-F238E27FC236}">
                <a16:creationId xmlns:a16="http://schemas.microsoft.com/office/drawing/2014/main" id="{AF8798AC-F9CE-D6F7-924C-78ADCE20C616}"/>
              </a:ext>
            </a:extLst>
          </p:cNvPr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8">
            <a:extLst>
              <a:ext uri="{FF2B5EF4-FFF2-40B4-BE49-F238E27FC236}">
                <a16:creationId xmlns:a16="http://schemas.microsoft.com/office/drawing/2014/main" id="{A36F157B-307A-AAC8-EDFB-549D91F171E2}"/>
              </a:ext>
            </a:extLst>
          </p:cNvPr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9">
            <a:extLst>
              <a:ext uri="{FF2B5EF4-FFF2-40B4-BE49-F238E27FC236}">
                <a16:creationId xmlns:a16="http://schemas.microsoft.com/office/drawing/2014/main" id="{98DA8DAE-4F6E-F95C-B6C0-89CBDA40FC64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0">
            <a:extLst>
              <a:ext uri="{FF2B5EF4-FFF2-40B4-BE49-F238E27FC236}">
                <a16:creationId xmlns:a16="http://schemas.microsoft.com/office/drawing/2014/main" id="{2E8661B6-39A4-B158-7D3F-EA84C967CACB}"/>
              </a:ext>
            </a:extLst>
          </p:cNvPr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1">
            <a:extLst>
              <a:ext uri="{FF2B5EF4-FFF2-40B4-BE49-F238E27FC236}">
                <a16:creationId xmlns:a16="http://schemas.microsoft.com/office/drawing/2014/main" id="{44AB6A92-A7AF-8138-21C9-193B110677DB}"/>
              </a:ext>
            </a:extLst>
          </p:cNvPr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2">
            <a:extLst>
              <a:ext uri="{FF2B5EF4-FFF2-40B4-BE49-F238E27FC236}">
                <a16:creationId xmlns:a16="http://schemas.microsoft.com/office/drawing/2014/main" id="{55885B16-FAB0-991B-A703-31E4FA127CE1}"/>
              </a:ext>
            </a:extLst>
          </p:cNvPr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3">
            <a:extLst>
              <a:ext uri="{FF2B5EF4-FFF2-40B4-BE49-F238E27FC236}">
                <a16:creationId xmlns:a16="http://schemas.microsoft.com/office/drawing/2014/main" id="{E15ABFBF-16C2-5DD6-095D-CD51BDF1A579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14">
            <a:extLst>
              <a:ext uri="{FF2B5EF4-FFF2-40B4-BE49-F238E27FC236}">
                <a16:creationId xmlns:a16="http://schemas.microsoft.com/office/drawing/2014/main" id="{174447FF-528A-1196-2B88-817B00349949}"/>
              </a:ext>
            </a:extLst>
          </p:cNvPr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15">
            <a:extLst>
              <a:ext uri="{FF2B5EF4-FFF2-40B4-BE49-F238E27FC236}">
                <a16:creationId xmlns:a16="http://schemas.microsoft.com/office/drawing/2014/main" id="{3F1E1206-AF10-FEB9-61D1-BA68B1CCE7CF}"/>
              </a:ext>
            </a:extLst>
          </p:cNvPr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16">
            <a:extLst>
              <a:ext uri="{FF2B5EF4-FFF2-40B4-BE49-F238E27FC236}">
                <a16:creationId xmlns:a16="http://schemas.microsoft.com/office/drawing/2014/main" id="{C402B2B2-F53A-1C65-E3CC-C8B1569B1965}"/>
              </a:ext>
            </a:extLst>
          </p:cNvPr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17">
            <a:extLst>
              <a:ext uri="{FF2B5EF4-FFF2-40B4-BE49-F238E27FC236}">
                <a16:creationId xmlns:a16="http://schemas.microsoft.com/office/drawing/2014/main" id="{B3D3D0D2-5A76-7EFC-1347-07727ADFA123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8">
            <a:extLst>
              <a:ext uri="{FF2B5EF4-FFF2-40B4-BE49-F238E27FC236}">
                <a16:creationId xmlns:a16="http://schemas.microsoft.com/office/drawing/2014/main" id="{D51A5C1F-24EC-905F-2147-48CBE727297D}"/>
              </a:ext>
            </a:extLst>
          </p:cNvPr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19">
            <a:extLst>
              <a:ext uri="{FF2B5EF4-FFF2-40B4-BE49-F238E27FC236}">
                <a16:creationId xmlns:a16="http://schemas.microsoft.com/office/drawing/2014/main" id="{DD0EE1A4-C3B5-3161-4695-C7C4F8F26B84}"/>
              </a:ext>
            </a:extLst>
          </p:cNvPr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0">
            <a:extLst>
              <a:ext uri="{FF2B5EF4-FFF2-40B4-BE49-F238E27FC236}">
                <a16:creationId xmlns:a16="http://schemas.microsoft.com/office/drawing/2014/main" id="{006FCA09-D486-7BC6-0BC9-E4912C58306B}"/>
              </a:ext>
            </a:extLst>
          </p:cNvPr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1">
            <a:extLst>
              <a:ext uri="{FF2B5EF4-FFF2-40B4-BE49-F238E27FC236}">
                <a16:creationId xmlns:a16="http://schemas.microsoft.com/office/drawing/2014/main" id="{037DD7C2-1E21-F1D5-59C6-600FF989D353}"/>
              </a:ext>
            </a:extLst>
          </p:cNvPr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2">
            <a:extLst>
              <a:ext uri="{FF2B5EF4-FFF2-40B4-BE49-F238E27FC236}">
                <a16:creationId xmlns:a16="http://schemas.microsoft.com/office/drawing/2014/main" id="{B590F752-E8C1-CA97-DB74-95BD28D12F6F}"/>
              </a:ext>
            </a:extLst>
          </p:cNvPr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3">
            <a:extLst>
              <a:ext uri="{FF2B5EF4-FFF2-40B4-BE49-F238E27FC236}">
                <a16:creationId xmlns:a16="http://schemas.microsoft.com/office/drawing/2014/main" id="{598953E3-EFCD-7999-BE72-758521C18C27}"/>
              </a:ext>
            </a:extLst>
          </p:cNvPr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24">
            <a:extLst>
              <a:ext uri="{FF2B5EF4-FFF2-40B4-BE49-F238E27FC236}">
                <a16:creationId xmlns:a16="http://schemas.microsoft.com/office/drawing/2014/main" id="{518192E5-2AF2-160E-383F-BAEB10E629CE}"/>
              </a:ext>
            </a:extLst>
          </p:cNvPr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25">
            <a:extLst>
              <a:ext uri="{FF2B5EF4-FFF2-40B4-BE49-F238E27FC236}">
                <a16:creationId xmlns:a16="http://schemas.microsoft.com/office/drawing/2014/main" id="{9E52A007-5361-1A96-15A9-501315852F1D}"/>
              </a:ext>
            </a:extLst>
          </p:cNvPr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26">
            <a:extLst>
              <a:ext uri="{FF2B5EF4-FFF2-40B4-BE49-F238E27FC236}">
                <a16:creationId xmlns:a16="http://schemas.microsoft.com/office/drawing/2014/main" id="{2B5D335F-C370-B40E-8203-1DD3BF676BFE}"/>
              </a:ext>
            </a:extLst>
          </p:cNvPr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27">
            <a:extLst>
              <a:ext uri="{FF2B5EF4-FFF2-40B4-BE49-F238E27FC236}">
                <a16:creationId xmlns:a16="http://schemas.microsoft.com/office/drawing/2014/main" id="{30A879A7-C149-46C8-441B-7342B47522B8}"/>
              </a:ext>
            </a:extLst>
          </p:cNvPr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28">
            <a:extLst>
              <a:ext uri="{FF2B5EF4-FFF2-40B4-BE49-F238E27FC236}">
                <a16:creationId xmlns:a16="http://schemas.microsoft.com/office/drawing/2014/main" id="{86F17105-6D03-DAA6-CD52-79BBD35873C6}"/>
              </a:ext>
            </a:extLst>
          </p:cNvPr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F91BFD1A-A1D2-216B-B9BE-6645FBC8EEE3}"/>
              </a:ext>
            </a:extLst>
          </p:cNvPr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9B2B9E4-5F25-EC21-4CB7-908DBAA2CA71}"/>
              </a:ext>
            </a:extLst>
          </p:cNvPr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5BB853D-96B2-5FA2-A157-90CE675966FA}"/>
              </a:ext>
            </a:extLst>
          </p:cNvPr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IMPACT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Use Cases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t>🎯 Real-World Use Cases</a:t>
            </a:r>
            <a:br/>
            <a:br/>
            <a:r>
              <a:t>• Disaster Relief — Communication when towers are down</a:t>
            </a:r>
            <a:br/>
            <a:r>
              <a:t>• Remote Expeditions — Trekking, camping, mountaineering</a:t>
            </a:r>
            <a:br/>
            <a:r>
              <a:t>• Event Management — Large venues with poor connectivity</a:t>
            </a:r>
            <a:br/>
            <a:r>
              <a:t>• Underground Facilities — Mines, bunkers, basements</a:t>
            </a:r>
            <a:br/>
            <a:r>
              <a:t>• Campus / Office — Private local-only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09891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Arial"/>
              </a:defRPr>
            </a:pPr>
            <a:r>
              <a:rPr dirty="0"/>
              <a:t>🚀 Future Enhancements</a:t>
            </a:r>
            <a:br>
              <a:rPr dirty="0"/>
            </a:br>
            <a:r>
              <a:rPr lang="en-US" dirty="0"/>
              <a:t>s</a:t>
            </a:r>
            <a:br>
              <a:rPr dirty="0"/>
            </a:br>
            <a:r>
              <a:rPr dirty="0"/>
              <a:t>• End-to-end message encryption (AES/RSA)</a:t>
            </a:r>
            <a:br>
              <a:rPr dirty="0"/>
            </a:br>
            <a:r>
              <a:rPr dirty="0"/>
              <a:t>• File / image transfer support</a:t>
            </a:r>
            <a:br>
              <a:rPr dirty="0"/>
            </a:br>
            <a:r>
              <a:rPr dirty="0"/>
              <a:t>• Group chat &amp; broadcast channels</a:t>
            </a:r>
            <a:br>
              <a:rPr dirty="0"/>
            </a:br>
            <a:r>
              <a:rPr dirty="0"/>
              <a:t>• iOS client application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C713318-9852-B192-49CA-7EEC4DDF1C8F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2">
            <a:extLst>
              <a:ext uri="{FF2B5EF4-FFF2-40B4-BE49-F238E27FC236}">
                <a16:creationId xmlns:a16="http://schemas.microsoft.com/office/drawing/2014/main" id="{49D9570A-1E73-7BCF-FC90-AD9B924DE7AB}"/>
              </a:ext>
            </a:extLst>
          </p:cNvPr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3">
            <a:extLst>
              <a:ext uri="{FF2B5EF4-FFF2-40B4-BE49-F238E27FC236}">
                <a16:creationId xmlns:a16="http://schemas.microsoft.com/office/drawing/2014/main" id="{FBAA48B0-BCDC-934F-E5EB-F117A98CD204}"/>
              </a:ext>
            </a:extLst>
          </p:cNvPr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4">
            <a:extLst>
              <a:ext uri="{FF2B5EF4-FFF2-40B4-BE49-F238E27FC236}">
                <a16:creationId xmlns:a16="http://schemas.microsoft.com/office/drawing/2014/main" id="{E4A1628C-70AE-A5AA-3781-42425F502770}"/>
              </a:ext>
            </a:extLst>
          </p:cNvPr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5">
            <a:extLst>
              <a:ext uri="{FF2B5EF4-FFF2-40B4-BE49-F238E27FC236}">
                <a16:creationId xmlns:a16="http://schemas.microsoft.com/office/drawing/2014/main" id="{B573EE73-AB57-A67E-8A90-BB2B778FB80C}"/>
              </a:ext>
            </a:extLst>
          </p:cNvPr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6">
            <a:extLst>
              <a:ext uri="{FF2B5EF4-FFF2-40B4-BE49-F238E27FC236}">
                <a16:creationId xmlns:a16="http://schemas.microsoft.com/office/drawing/2014/main" id="{9328B547-7234-81E0-DA28-7BDA2C70A45A}"/>
              </a:ext>
            </a:extLst>
          </p:cNvPr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7">
            <a:extLst>
              <a:ext uri="{FF2B5EF4-FFF2-40B4-BE49-F238E27FC236}">
                <a16:creationId xmlns:a16="http://schemas.microsoft.com/office/drawing/2014/main" id="{58EB8538-7A20-E2B0-93DE-8E876EEFF8B9}"/>
              </a:ext>
            </a:extLst>
          </p:cNvPr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8">
            <a:extLst>
              <a:ext uri="{FF2B5EF4-FFF2-40B4-BE49-F238E27FC236}">
                <a16:creationId xmlns:a16="http://schemas.microsoft.com/office/drawing/2014/main" id="{A5C019F3-2660-6D5D-7377-717F35FC460E}"/>
              </a:ext>
            </a:extLst>
          </p:cNvPr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9">
            <a:extLst>
              <a:ext uri="{FF2B5EF4-FFF2-40B4-BE49-F238E27FC236}">
                <a16:creationId xmlns:a16="http://schemas.microsoft.com/office/drawing/2014/main" id="{6E9247C2-A34B-9C38-DAE9-11646E05F1AC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10">
            <a:extLst>
              <a:ext uri="{FF2B5EF4-FFF2-40B4-BE49-F238E27FC236}">
                <a16:creationId xmlns:a16="http://schemas.microsoft.com/office/drawing/2014/main" id="{24B3568A-0B84-8F55-F386-87CAA11D397C}"/>
              </a:ext>
            </a:extLst>
          </p:cNvPr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1">
            <a:extLst>
              <a:ext uri="{FF2B5EF4-FFF2-40B4-BE49-F238E27FC236}">
                <a16:creationId xmlns:a16="http://schemas.microsoft.com/office/drawing/2014/main" id="{A42B7891-AEC6-96CB-864F-687374AAE785}"/>
              </a:ext>
            </a:extLst>
          </p:cNvPr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12">
            <a:extLst>
              <a:ext uri="{FF2B5EF4-FFF2-40B4-BE49-F238E27FC236}">
                <a16:creationId xmlns:a16="http://schemas.microsoft.com/office/drawing/2014/main" id="{862C9291-545A-039D-F4C1-5F7C58DAE427}"/>
              </a:ext>
            </a:extLst>
          </p:cNvPr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13">
            <a:extLst>
              <a:ext uri="{FF2B5EF4-FFF2-40B4-BE49-F238E27FC236}">
                <a16:creationId xmlns:a16="http://schemas.microsoft.com/office/drawing/2014/main" id="{EAEDA345-2F83-7B30-107B-C0CFE18A1A8E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14">
            <a:extLst>
              <a:ext uri="{FF2B5EF4-FFF2-40B4-BE49-F238E27FC236}">
                <a16:creationId xmlns:a16="http://schemas.microsoft.com/office/drawing/2014/main" id="{45AE30E1-D715-E5EB-0BA5-DB7A63270780}"/>
              </a:ext>
            </a:extLst>
          </p:cNvPr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15">
            <a:extLst>
              <a:ext uri="{FF2B5EF4-FFF2-40B4-BE49-F238E27FC236}">
                <a16:creationId xmlns:a16="http://schemas.microsoft.com/office/drawing/2014/main" id="{CB06120F-F399-61FB-129D-1173F91AF1DE}"/>
              </a:ext>
            </a:extLst>
          </p:cNvPr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16">
            <a:extLst>
              <a:ext uri="{FF2B5EF4-FFF2-40B4-BE49-F238E27FC236}">
                <a16:creationId xmlns:a16="http://schemas.microsoft.com/office/drawing/2014/main" id="{BE6BD39F-3E2B-01E6-CCB2-F44B436D87FA}"/>
              </a:ext>
            </a:extLst>
          </p:cNvPr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17">
            <a:extLst>
              <a:ext uri="{FF2B5EF4-FFF2-40B4-BE49-F238E27FC236}">
                <a16:creationId xmlns:a16="http://schemas.microsoft.com/office/drawing/2014/main" id="{BB290BB8-D572-1039-F0C2-23A42D82C5FE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18">
            <a:extLst>
              <a:ext uri="{FF2B5EF4-FFF2-40B4-BE49-F238E27FC236}">
                <a16:creationId xmlns:a16="http://schemas.microsoft.com/office/drawing/2014/main" id="{9A243BD7-FD69-9C39-33F5-51A534C80F03}"/>
              </a:ext>
            </a:extLst>
          </p:cNvPr>
          <p:cNvCxnSpPr/>
          <p:nvPr/>
        </p:nvCxnSpPr>
        <p:spPr>
          <a:xfrm>
            <a:off x="11658600" y="0"/>
            <a:ext cx="0" cy="685800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9">
            <a:extLst>
              <a:ext uri="{FF2B5EF4-FFF2-40B4-BE49-F238E27FC236}">
                <a16:creationId xmlns:a16="http://schemas.microsoft.com/office/drawing/2014/main" id="{ED7AA4F3-EDD2-A8CA-3097-9275846B233E}"/>
              </a:ext>
            </a:extLst>
          </p:cNvPr>
          <p:cNvCxnSpPr/>
          <p:nvPr/>
        </p:nvCxnSpPr>
        <p:spPr>
          <a:xfrm>
            <a:off x="0" y="685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20">
            <a:extLst>
              <a:ext uri="{FF2B5EF4-FFF2-40B4-BE49-F238E27FC236}">
                <a16:creationId xmlns:a16="http://schemas.microsoft.com/office/drawing/2014/main" id="{CCD89DE1-CB71-7429-595B-63DF3FA861D3}"/>
              </a:ext>
            </a:extLst>
          </p:cNvPr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21">
            <a:extLst>
              <a:ext uri="{FF2B5EF4-FFF2-40B4-BE49-F238E27FC236}">
                <a16:creationId xmlns:a16="http://schemas.microsoft.com/office/drawing/2014/main" id="{3347A347-F8F7-EE0B-5324-FC6833050F43}"/>
              </a:ext>
            </a:extLst>
          </p:cNvPr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22">
            <a:extLst>
              <a:ext uri="{FF2B5EF4-FFF2-40B4-BE49-F238E27FC236}">
                <a16:creationId xmlns:a16="http://schemas.microsoft.com/office/drawing/2014/main" id="{1E7BCD8C-FA0D-6A9D-6DAC-1689980E8F3D}"/>
              </a:ext>
            </a:extLst>
          </p:cNvPr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23">
            <a:extLst>
              <a:ext uri="{FF2B5EF4-FFF2-40B4-BE49-F238E27FC236}">
                <a16:creationId xmlns:a16="http://schemas.microsoft.com/office/drawing/2014/main" id="{BA6F9BD8-0806-7654-F42D-13AF8CAA66F6}"/>
              </a:ext>
            </a:extLst>
          </p:cNvPr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24">
            <a:extLst>
              <a:ext uri="{FF2B5EF4-FFF2-40B4-BE49-F238E27FC236}">
                <a16:creationId xmlns:a16="http://schemas.microsoft.com/office/drawing/2014/main" id="{C34B3806-9257-A114-D071-3D8FB2E9CB65}"/>
              </a:ext>
            </a:extLst>
          </p:cNvPr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25">
            <a:extLst>
              <a:ext uri="{FF2B5EF4-FFF2-40B4-BE49-F238E27FC236}">
                <a16:creationId xmlns:a16="http://schemas.microsoft.com/office/drawing/2014/main" id="{F634FA78-0A20-433A-42A6-640AF7210CD6}"/>
              </a:ext>
            </a:extLst>
          </p:cNvPr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26">
            <a:extLst>
              <a:ext uri="{FF2B5EF4-FFF2-40B4-BE49-F238E27FC236}">
                <a16:creationId xmlns:a16="http://schemas.microsoft.com/office/drawing/2014/main" id="{1F9CD3C0-3472-CDF7-826A-8A6454F7DD4F}"/>
              </a:ext>
            </a:extLst>
          </p:cNvPr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27">
            <a:extLst>
              <a:ext uri="{FF2B5EF4-FFF2-40B4-BE49-F238E27FC236}">
                <a16:creationId xmlns:a16="http://schemas.microsoft.com/office/drawing/2014/main" id="{9C59EAB7-27B4-33B3-B242-F16ED7C64F1B}"/>
              </a:ext>
            </a:extLst>
          </p:cNvPr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28">
            <a:extLst>
              <a:ext uri="{FF2B5EF4-FFF2-40B4-BE49-F238E27FC236}">
                <a16:creationId xmlns:a16="http://schemas.microsoft.com/office/drawing/2014/main" id="{55F675A0-137F-969E-4181-646CD271F8A9}"/>
              </a:ext>
            </a:extLst>
          </p:cNvPr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0F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9D844E1E-ED46-6E2A-3CDB-0ADDCD700006}"/>
              </a:ext>
            </a:extLst>
          </p:cNvPr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4B9FD0C-0FFB-6883-22E4-E222D830E9CA}"/>
              </a:ext>
            </a:extLst>
          </p:cNvPr>
          <p:cNvSpPr/>
          <p:nvPr/>
        </p:nvSpPr>
        <p:spPr>
          <a:xfrm>
            <a:off x="11643055" y="457200"/>
            <a:ext cx="91440" cy="914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EF0674A-9755-F70B-3FFA-E53A00BEBA72}"/>
              </a:ext>
            </a:extLst>
          </p:cNvPr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9640" y="135272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Arial"/>
              </a:defRPr>
            </a:pPr>
            <a:r>
              <a:t>END OF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640" y="171848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263288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4"/>
                </a:solidFill>
                <a:latin typeface="Arial"/>
              </a:defRPr>
            </a:pPr>
            <a:r>
              <a:t>PeerLink — Connecting People, Offline.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5640" y="354728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5640" y="427880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Android (Kotlin)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7320" y="354728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320" y="427880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ESP32 Firmware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0" y="354728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0" y="427880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Arial"/>
              </a:defRPr>
            </a:pPr>
            <a:r>
              <a:t>Offline Mesh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Arial"/>
              </a:defRPr>
            </a:pPr>
            <a:r>
              <a:t>Built with Kotlin · Jetpack Compose · ESP32 Arduino · UDP Networking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1359</Words>
  <Application>Microsoft Office PowerPoint</Application>
  <PresentationFormat>Widescreen</PresentationFormat>
  <Paragraphs>173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satyajeet chavan</cp:lastModifiedBy>
  <cp:revision>6</cp:revision>
  <dcterms:created xsi:type="dcterms:W3CDTF">2013-01-27T09:14:16Z</dcterms:created>
  <dcterms:modified xsi:type="dcterms:W3CDTF">2026-03-09T19:11:52Z</dcterms:modified>
  <cp:category/>
</cp:coreProperties>
</file>